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8"/>
  </p:notesMasterIdLst>
  <p:handoutMasterIdLst>
    <p:handoutMasterId r:id="rId9"/>
  </p:handoutMasterIdLst>
  <p:sldIdLst>
    <p:sldId id="256" r:id="rId2"/>
    <p:sldId id="262" r:id="rId3"/>
    <p:sldId id="264" r:id="rId4"/>
    <p:sldId id="263" r:id="rId5"/>
    <p:sldId id="265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el nerea" initials="an" lastIdx="1" clrIdx="0">
    <p:extLst>
      <p:ext uri="{19B8F6BF-5375-455C-9EA6-DF929625EA0E}">
        <p15:presenceInfo xmlns:p15="http://schemas.microsoft.com/office/powerpoint/2012/main" userId="872e68c281a41c5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F0E"/>
    <a:srgbClr val="1F77B4"/>
    <a:srgbClr val="BFBFBF"/>
    <a:srgbClr val="2CA02C"/>
    <a:srgbClr val="1F77B5"/>
    <a:srgbClr val="885449"/>
    <a:srgbClr val="9467BE"/>
    <a:srgbClr val="D72728"/>
    <a:srgbClr val="279027"/>
    <a:srgbClr val="1B6B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48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EE75AC-6D08-4746-A31A-7B4F57AB17F5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ECE2BFF-9381-4CD8-8664-C7422A8E81CB}">
      <dgm:prSet/>
      <dgm:spPr/>
      <dgm:t>
        <a:bodyPr/>
        <a:lstStyle/>
        <a:p>
          <a:r>
            <a:rPr lang="en-US"/>
            <a:t>Checking Significance of variables Using OLS Regression </a:t>
          </a:r>
        </a:p>
      </dgm:t>
    </dgm:pt>
    <dgm:pt modelId="{2A668BFA-96F1-49B0-8A46-7AD7F3E3C2D5}" type="parTrans" cxnId="{FA5EE339-6E1B-4009-813D-0D65D7DFB99C}">
      <dgm:prSet/>
      <dgm:spPr/>
      <dgm:t>
        <a:bodyPr/>
        <a:lstStyle/>
        <a:p>
          <a:endParaRPr lang="en-US"/>
        </a:p>
      </dgm:t>
    </dgm:pt>
    <dgm:pt modelId="{925FF4FF-B3B1-4046-A107-2248B25F9A19}" type="sibTrans" cxnId="{FA5EE339-6E1B-4009-813D-0D65D7DFB99C}">
      <dgm:prSet/>
      <dgm:spPr/>
      <dgm:t>
        <a:bodyPr/>
        <a:lstStyle/>
        <a:p>
          <a:endParaRPr lang="en-US"/>
        </a:p>
      </dgm:t>
    </dgm:pt>
    <dgm:pt modelId="{82F1D238-76C0-483B-9119-8801D67CD5D3}" type="pres">
      <dgm:prSet presAssocID="{C2EE75AC-6D08-4746-A31A-7B4F57AB17F5}" presName="linear" presStyleCnt="0">
        <dgm:presLayoutVars>
          <dgm:animLvl val="lvl"/>
          <dgm:resizeHandles val="exact"/>
        </dgm:presLayoutVars>
      </dgm:prSet>
      <dgm:spPr/>
    </dgm:pt>
    <dgm:pt modelId="{9181DFFA-59F2-4013-9B4D-E833B5913BC2}" type="pres">
      <dgm:prSet presAssocID="{DECE2BFF-9381-4CD8-8664-C7422A8E81CB}" presName="parentText" presStyleLbl="node1" presStyleIdx="0" presStyleCnt="1" custLinFactNeighborY="3887">
        <dgm:presLayoutVars>
          <dgm:chMax val="0"/>
          <dgm:bulletEnabled val="1"/>
        </dgm:presLayoutVars>
      </dgm:prSet>
      <dgm:spPr/>
    </dgm:pt>
  </dgm:ptLst>
  <dgm:cxnLst>
    <dgm:cxn modelId="{F52FE705-4EC7-4ABC-8A47-69608C317452}" type="presOf" srcId="{DECE2BFF-9381-4CD8-8664-C7422A8E81CB}" destId="{9181DFFA-59F2-4013-9B4D-E833B5913BC2}" srcOrd="0" destOrd="0" presId="urn:microsoft.com/office/officeart/2005/8/layout/vList2"/>
    <dgm:cxn modelId="{30C88639-CAE1-4701-A93A-4054257A1E16}" type="presOf" srcId="{C2EE75AC-6D08-4746-A31A-7B4F57AB17F5}" destId="{82F1D238-76C0-483B-9119-8801D67CD5D3}" srcOrd="0" destOrd="0" presId="urn:microsoft.com/office/officeart/2005/8/layout/vList2"/>
    <dgm:cxn modelId="{FA5EE339-6E1B-4009-813D-0D65D7DFB99C}" srcId="{C2EE75AC-6D08-4746-A31A-7B4F57AB17F5}" destId="{DECE2BFF-9381-4CD8-8664-C7422A8E81CB}" srcOrd="0" destOrd="0" parTransId="{2A668BFA-96F1-49B0-8A46-7AD7F3E3C2D5}" sibTransId="{925FF4FF-B3B1-4046-A107-2248B25F9A19}"/>
    <dgm:cxn modelId="{B108CC86-65FF-4509-919B-5C88C481C453}" type="presParOf" srcId="{82F1D238-76C0-483B-9119-8801D67CD5D3}" destId="{9181DFFA-59F2-4013-9B4D-E833B5913BC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25A181-F2CB-47EC-8108-9B60518F51D2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4499D3-5345-42C5-B6C4-707A49299547}">
      <dgm:prSet/>
      <dgm:spPr/>
      <dgm:t>
        <a:bodyPr/>
        <a:lstStyle/>
        <a:p>
          <a:r>
            <a:rPr lang="en-US" dirty="0"/>
            <a:t>Comments on the models  </a:t>
          </a:r>
        </a:p>
      </dgm:t>
    </dgm:pt>
    <dgm:pt modelId="{FFCE7C27-2A41-461B-BB3A-3876B44065F9}" type="parTrans" cxnId="{79291E87-A704-4F97-8B2E-AF59F9D6EA38}">
      <dgm:prSet/>
      <dgm:spPr/>
      <dgm:t>
        <a:bodyPr/>
        <a:lstStyle/>
        <a:p>
          <a:endParaRPr lang="en-US"/>
        </a:p>
      </dgm:t>
    </dgm:pt>
    <dgm:pt modelId="{CDF98172-D3A5-4C35-B409-73E112E46355}" type="sibTrans" cxnId="{79291E87-A704-4F97-8B2E-AF59F9D6EA38}">
      <dgm:prSet/>
      <dgm:spPr/>
      <dgm:t>
        <a:bodyPr/>
        <a:lstStyle/>
        <a:p>
          <a:endParaRPr lang="en-US"/>
        </a:p>
      </dgm:t>
    </dgm:pt>
    <dgm:pt modelId="{A39C0CCC-28E6-4026-B809-8E3B8E2D979F}" type="pres">
      <dgm:prSet presAssocID="{EE25A181-F2CB-47EC-8108-9B60518F51D2}" presName="linear" presStyleCnt="0">
        <dgm:presLayoutVars>
          <dgm:animLvl val="lvl"/>
          <dgm:resizeHandles val="exact"/>
        </dgm:presLayoutVars>
      </dgm:prSet>
      <dgm:spPr/>
    </dgm:pt>
    <dgm:pt modelId="{9A745AD1-FCCB-4931-9700-241F6A39AC17}" type="pres">
      <dgm:prSet presAssocID="{554499D3-5345-42C5-B6C4-707A49299547}" presName="parentText" presStyleLbl="node1" presStyleIdx="0" presStyleCnt="1" custFlipHor="1" custScaleX="68082" custLinFactNeighborX="-31405" custLinFactNeighborY="34771">
        <dgm:presLayoutVars>
          <dgm:chMax val="0"/>
          <dgm:bulletEnabled val="1"/>
        </dgm:presLayoutVars>
      </dgm:prSet>
      <dgm:spPr/>
    </dgm:pt>
  </dgm:ptLst>
  <dgm:cxnLst>
    <dgm:cxn modelId="{79291E87-A704-4F97-8B2E-AF59F9D6EA38}" srcId="{EE25A181-F2CB-47EC-8108-9B60518F51D2}" destId="{554499D3-5345-42C5-B6C4-707A49299547}" srcOrd="0" destOrd="0" parTransId="{FFCE7C27-2A41-461B-BB3A-3876B44065F9}" sibTransId="{CDF98172-D3A5-4C35-B409-73E112E46355}"/>
    <dgm:cxn modelId="{2D8966A3-9966-4A95-B145-4FFDDE4FE23B}" type="presOf" srcId="{EE25A181-F2CB-47EC-8108-9B60518F51D2}" destId="{A39C0CCC-28E6-4026-B809-8E3B8E2D979F}" srcOrd="0" destOrd="0" presId="urn:microsoft.com/office/officeart/2005/8/layout/vList2"/>
    <dgm:cxn modelId="{36A089B1-B57D-4DFF-AF46-5AB807B9AFEA}" type="presOf" srcId="{554499D3-5345-42C5-B6C4-707A49299547}" destId="{9A745AD1-FCCB-4931-9700-241F6A39AC17}" srcOrd="0" destOrd="0" presId="urn:microsoft.com/office/officeart/2005/8/layout/vList2"/>
    <dgm:cxn modelId="{CDB24485-D5BD-4732-A3EC-11B823AA2122}" type="presParOf" srcId="{A39C0CCC-28E6-4026-B809-8E3B8E2D979F}" destId="{9A745AD1-FCCB-4931-9700-241F6A39AC1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25A181-F2CB-47EC-8108-9B60518F51D2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4499D3-5345-42C5-B6C4-707A49299547}">
      <dgm:prSet/>
      <dgm:spPr/>
      <dgm:t>
        <a:bodyPr/>
        <a:lstStyle/>
        <a:p>
          <a:r>
            <a:rPr lang="en-US" dirty="0"/>
            <a:t>Analyze Variable Importance  </a:t>
          </a:r>
        </a:p>
      </dgm:t>
    </dgm:pt>
    <dgm:pt modelId="{FFCE7C27-2A41-461B-BB3A-3876B44065F9}" type="parTrans" cxnId="{79291E87-A704-4F97-8B2E-AF59F9D6EA38}">
      <dgm:prSet/>
      <dgm:spPr/>
      <dgm:t>
        <a:bodyPr/>
        <a:lstStyle/>
        <a:p>
          <a:endParaRPr lang="en-US"/>
        </a:p>
      </dgm:t>
    </dgm:pt>
    <dgm:pt modelId="{CDF98172-D3A5-4C35-B409-73E112E46355}" type="sibTrans" cxnId="{79291E87-A704-4F97-8B2E-AF59F9D6EA38}">
      <dgm:prSet/>
      <dgm:spPr/>
      <dgm:t>
        <a:bodyPr/>
        <a:lstStyle/>
        <a:p>
          <a:endParaRPr lang="en-US"/>
        </a:p>
      </dgm:t>
    </dgm:pt>
    <dgm:pt modelId="{A39C0CCC-28E6-4026-B809-8E3B8E2D979F}" type="pres">
      <dgm:prSet presAssocID="{EE25A181-F2CB-47EC-8108-9B60518F51D2}" presName="linear" presStyleCnt="0">
        <dgm:presLayoutVars>
          <dgm:animLvl val="lvl"/>
          <dgm:resizeHandles val="exact"/>
        </dgm:presLayoutVars>
      </dgm:prSet>
      <dgm:spPr/>
    </dgm:pt>
    <dgm:pt modelId="{9A745AD1-FCCB-4931-9700-241F6A39AC17}" type="pres">
      <dgm:prSet presAssocID="{554499D3-5345-42C5-B6C4-707A49299547}" presName="parentText" presStyleLbl="node1" presStyleIdx="0" presStyleCnt="1" custFlipHor="1" custScaleX="73921" custLinFactNeighborX="-13039" custLinFactNeighborY="5506">
        <dgm:presLayoutVars>
          <dgm:chMax val="0"/>
          <dgm:bulletEnabled val="1"/>
        </dgm:presLayoutVars>
      </dgm:prSet>
      <dgm:spPr/>
    </dgm:pt>
  </dgm:ptLst>
  <dgm:cxnLst>
    <dgm:cxn modelId="{79291E87-A704-4F97-8B2E-AF59F9D6EA38}" srcId="{EE25A181-F2CB-47EC-8108-9B60518F51D2}" destId="{554499D3-5345-42C5-B6C4-707A49299547}" srcOrd="0" destOrd="0" parTransId="{FFCE7C27-2A41-461B-BB3A-3876B44065F9}" sibTransId="{CDF98172-D3A5-4C35-B409-73E112E46355}"/>
    <dgm:cxn modelId="{2D8966A3-9966-4A95-B145-4FFDDE4FE23B}" type="presOf" srcId="{EE25A181-F2CB-47EC-8108-9B60518F51D2}" destId="{A39C0CCC-28E6-4026-B809-8E3B8E2D979F}" srcOrd="0" destOrd="0" presId="urn:microsoft.com/office/officeart/2005/8/layout/vList2"/>
    <dgm:cxn modelId="{36A089B1-B57D-4DFF-AF46-5AB807B9AFEA}" type="presOf" srcId="{554499D3-5345-42C5-B6C4-707A49299547}" destId="{9A745AD1-FCCB-4931-9700-241F6A39AC17}" srcOrd="0" destOrd="0" presId="urn:microsoft.com/office/officeart/2005/8/layout/vList2"/>
    <dgm:cxn modelId="{CDB24485-D5BD-4732-A3EC-11B823AA2122}" type="presParOf" srcId="{A39C0CCC-28E6-4026-B809-8E3B8E2D979F}" destId="{9A745AD1-FCCB-4931-9700-241F6A39AC1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F5663E8-4AC3-40A2-927B-D54D390FEBE4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E89E33E-5D5C-49A8-ABB6-630C14542D06}">
      <dgm:prSet/>
      <dgm:spPr/>
      <dgm:t>
        <a:bodyPr/>
        <a:lstStyle/>
        <a:p>
          <a:r>
            <a:rPr lang="en-US" dirty="0"/>
            <a:t>Random forest to forecast and to calculating test set accuracy</a:t>
          </a:r>
        </a:p>
      </dgm:t>
    </dgm:pt>
    <dgm:pt modelId="{50D04967-7C40-43B7-A2D9-5BCD90529F86}" type="parTrans" cxnId="{8B117A34-9661-45F0-BD21-0BB2BDF72709}">
      <dgm:prSet/>
      <dgm:spPr/>
      <dgm:t>
        <a:bodyPr/>
        <a:lstStyle/>
        <a:p>
          <a:endParaRPr lang="en-US"/>
        </a:p>
      </dgm:t>
    </dgm:pt>
    <dgm:pt modelId="{3061DB79-2BF5-4B57-909C-A7D74616A819}" type="sibTrans" cxnId="{8B117A34-9661-45F0-BD21-0BB2BDF72709}">
      <dgm:prSet/>
      <dgm:spPr/>
      <dgm:t>
        <a:bodyPr/>
        <a:lstStyle/>
        <a:p>
          <a:endParaRPr lang="en-US"/>
        </a:p>
      </dgm:t>
    </dgm:pt>
    <dgm:pt modelId="{E33DC76F-B10C-4B63-AC41-66E04D229D27}" type="pres">
      <dgm:prSet presAssocID="{AF5663E8-4AC3-40A2-927B-D54D390FEBE4}" presName="linear" presStyleCnt="0">
        <dgm:presLayoutVars>
          <dgm:animLvl val="lvl"/>
          <dgm:resizeHandles val="exact"/>
        </dgm:presLayoutVars>
      </dgm:prSet>
      <dgm:spPr/>
    </dgm:pt>
    <dgm:pt modelId="{F80FB092-27EA-4CAE-A73B-3A3693F6463E}" type="pres">
      <dgm:prSet presAssocID="{AE89E33E-5D5C-49A8-ABB6-630C14542D06}" presName="parentText" presStyleLbl="node1" presStyleIdx="0" presStyleCnt="1" custScaleY="105223">
        <dgm:presLayoutVars>
          <dgm:chMax val="0"/>
          <dgm:bulletEnabled val="1"/>
        </dgm:presLayoutVars>
      </dgm:prSet>
      <dgm:spPr/>
    </dgm:pt>
  </dgm:ptLst>
  <dgm:cxnLst>
    <dgm:cxn modelId="{21FAA617-B1F5-4447-B07A-A3D48225AA4A}" type="presOf" srcId="{AE89E33E-5D5C-49A8-ABB6-630C14542D06}" destId="{F80FB092-27EA-4CAE-A73B-3A3693F6463E}" srcOrd="0" destOrd="0" presId="urn:microsoft.com/office/officeart/2005/8/layout/vList2"/>
    <dgm:cxn modelId="{8B117A34-9661-45F0-BD21-0BB2BDF72709}" srcId="{AF5663E8-4AC3-40A2-927B-D54D390FEBE4}" destId="{AE89E33E-5D5C-49A8-ABB6-630C14542D06}" srcOrd="0" destOrd="0" parTransId="{50D04967-7C40-43B7-A2D9-5BCD90529F86}" sibTransId="{3061DB79-2BF5-4B57-909C-A7D74616A819}"/>
    <dgm:cxn modelId="{D90AD9A1-7757-4206-9F7F-FF1A8AD0CDD5}" type="presOf" srcId="{AF5663E8-4AC3-40A2-927B-D54D390FEBE4}" destId="{E33DC76F-B10C-4B63-AC41-66E04D229D27}" srcOrd="0" destOrd="0" presId="urn:microsoft.com/office/officeart/2005/8/layout/vList2"/>
    <dgm:cxn modelId="{A0EC17D4-A266-43AF-9CFD-BC0B5EC2A39C}" type="presParOf" srcId="{E33DC76F-B10C-4B63-AC41-66E04D229D27}" destId="{F80FB092-27EA-4CAE-A73B-3A3693F6463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0076F7A-09F5-4C8E-8811-9006DBA5C2C5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74ED6E-696A-419A-B902-1C20BB2DB5F0}">
      <dgm:prSet/>
      <dgm:spPr/>
      <dgm:t>
        <a:bodyPr/>
        <a:lstStyle/>
        <a:p>
          <a:r>
            <a:rPr lang="en-US" dirty="0"/>
            <a:t>Before Cross Validation</a:t>
          </a:r>
        </a:p>
      </dgm:t>
    </dgm:pt>
    <dgm:pt modelId="{13B1F3D6-0B05-481A-9E61-12E99B783C40}" type="parTrans" cxnId="{8A862C2A-64B9-45B3-BF28-60AAF2920CDD}">
      <dgm:prSet/>
      <dgm:spPr/>
      <dgm:t>
        <a:bodyPr/>
        <a:lstStyle/>
        <a:p>
          <a:endParaRPr lang="en-US"/>
        </a:p>
      </dgm:t>
    </dgm:pt>
    <dgm:pt modelId="{B3B7CC6F-5333-4297-AEE8-7955F7F1E9D7}" type="sibTrans" cxnId="{8A862C2A-64B9-45B3-BF28-60AAF2920CDD}">
      <dgm:prSet/>
      <dgm:spPr/>
      <dgm:t>
        <a:bodyPr/>
        <a:lstStyle/>
        <a:p>
          <a:endParaRPr lang="en-US"/>
        </a:p>
      </dgm:t>
    </dgm:pt>
    <dgm:pt modelId="{1F4C92DD-E3C2-444B-8E17-3AB1BFBEF830}" type="pres">
      <dgm:prSet presAssocID="{00076F7A-09F5-4C8E-8811-9006DBA5C2C5}" presName="linear" presStyleCnt="0">
        <dgm:presLayoutVars>
          <dgm:animLvl val="lvl"/>
          <dgm:resizeHandles val="exact"/>
        </dgm:presLayoutVars>
      </dgm:prSet>
      <dgm:spPr/>
    </dgm:pt>
    <dgm:pt modelId="{84DB8A42-4518-4B81-BBE5-74123F8CC7F4}" type="pres">
      <dgm:prSet presAssocID="{D974ED6E-696A-419A-B902-1C20BB2DB5F0}" presName="parentText" presStyleLbl="node1" presStyleIdx="0" presStyleCnt="1" custLinFactNeighborY="8769">
        <dgm:presLayoutVars>
          <dgm:chMax val="0"/>
          <dgm:bulletEnabled val="1"/>
        </dgm:presLayoutVars>
      </dgm:prSet>
      <dgm:spPr/>
    </dgm:pt>
  </dgm:ptLst>
  <dgm:cxnLst>
    <dgm:cxn modelId="{8A862C2A-64B9-45B3-BF28-60AAF2920CDD}" srcId="{00076F7A-09F5-4C8E-8811-9006DBA5C2C5}" destId="{D974ED6E-696A-419A-B902-1C20BB2DB5F0}" srcOrd="0" destOrd="0" parTransId="{13B1F3D6-0B05-481A-9E61-12E99B783C40}" sibTransId="{B3B7CC6F-5333-4297-AEE8-7955F7F1E9D7}"/>
    <dgm:cxn modelId="{22EFEB37-47C4-4FD7-8DE7-1A58FB68BE4E}" type="presOf" srcId="{D974ED6E-696A-419A-B902-1C20BB2DB5F0}" destId="{84DB8A42-4518-4B81-BBE5-74123F8CC7F4}" srcOrd="0" destOrd="0" presId="urn:microsoft.com/office/officeart/2005/8/layout/vList2"/>
    <dgm:cxn modelId="{6F3DE7D9-58BE-4242-9BE1-19398FA65CE2}" type="presOf" srcId="{00076F7A-09F5-4C8E-8811-9006DBA5C2C5}" destId="{1F4C92DD-E3C2-444B-8E17-3AB1BFBEF830}" srcOrd="0" destOrd="0" presId="urn:microsoft.com/office/officeart/2005/8/layout/vList2"/>
    <dgm:cxn modelId="{3CE8606D-65DC-44C4-A46D-965333B5AF43}" type="presParOf" srcId="{1F4C92DD-E3C2-444B-8E17-3AB1BFBEF830}" destId="{84DB8A42-4518-4B81-BBE5-74123F8CC7F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0076F7A-09F5-4C8E-8811-9006DBA5C2C5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74ED6E-696A-419A-B902-1C20BB2DB5F0}">
      <dgm:prSet/>
      <dgm:spPr/>
      <dgm:t>
        <a:bodyPr/>
        <a:lstStyle/>
        <a:p>
          <a:r>
            <a:rPr lang="en-US" dirty="0"/>
            <a:t>After Cross Validation</a:t>
          </a:r>
        </a:p>
      </dgm:t>
    </dgm:pt>
    <dgm:pt modelId="{13B1F3D6-0B05-481A-9E61-12E99B783C40}" type="parTrans" cxnId="{8A862C2A-64B9-45B3-BF28-60AAF2920CDD}">
      <dgm:prSet/>
      <dgm:spPr/>
      <dgm:t>
        <a:bodyPr/>
        <a:lstStyle/>
        <a:p>
          <a:endParaRPr lang="en-US"/>
        </a:p>
      </dgm:t>
    </dgm:pt>
    <dgm:pt modelId="{B3B7CC6F-5333-4297-AEE8-7955F7F1E9D7}" type="sibTrans" cxnId="{8A862C2A-64B9-45B3-BF28-60AAF2920CDD}">
      <dgm:prSet/>
      <dgm:spPr/>
      <dgm:t>
        <a:bodyPr/>
        <a:lstStyle/>
        <a:p>
          <a:endParaRPr lang="en-US"/>
        </a:p>
      </dgm:t>
    </dgm:pt>
    <dgm:pt modelId="{1F4C92DD-E3C2-444B-8E17-3AB1BFBEF830}" type="pres">
      <dgm:prSet presAssocID="{00076F7A-09F5-4C8E-8811-9006DBA5C2C5}" presName="linear" presStyleCnt="0">
        <dgm:presLayoutVars>
          <dgm:animLvl val="lvl"/>
          <dgm:resizeHandles val="exact"/>
        </dgm:presLayoutVars>
      </dgm:prSet>
      <dgm:spPr/>
    </dgm:pt>
    <dgm:pt modelId="{84DB8A42-4518-4B81-BBE5-74123F8CC7F4}" type="pres">
      <dgm:prSet presAssocID="{D974ED6E-696A-419A-B902-1C20BB2DB5F0}" presName="parentText" presStyleLbl="node1" presStyleIdx="0" presStyleCnt="1" custScaleY="121411" custLinFactNeighborY="-5392">
        <dgm:presLayoutVars>
          <dgm:chMax val="0"/>
          <dgm:bulletEnabled val="1"/>
        </dgm:presLayoutVars>
      </dgm:prSet>
      <dgm:spPr/>
    </dgm:pt>
  </dgm:ptLst>
  <dgm:cxnLst>
    <dgm:cxn modelId="{8A862C2A-64B9-45B3-BF28-60AAF2920CDD}" srcId="{00076F7A-09F5-4C8E-8811-9006DBA5C2C5}" destId="{D974ED6E-696A-419A-B902-1C20BB2DB5F0}" srcOrd="0" destOrd="0" parTransId="{13B1F3D6-0B05-481A-9E61-12E99B783C40}" sibTransId="{B3B7CC6F-5333-4297-AEE8-7955F7F1E9D7}"/>
    <dgm:cxn modelId="{22EFEB37-47C4-4FD7-8DE7-1A58FB68BE4E}" type="presOf" srcId="{D974ED6E-696A-419A-B902-1C20BB2DB5F0}" destId="{84DB8A42-4518-4B81-BBE5-74123F8CC7F4}" srcOrd="0" destOrd="0" presId="urn:microsoft.com/office/officeart/2005/8/layout/vList2"/>
    <dgm:cxn modelId="{6F3DE7D9-58BE-4242-9BE1-19398FA65CE2}" type="presOf" srcId="{00076F7A-09F5-4C8E-8811-9006DBA5C2C5}" destId="{1F4C92DD-E3C2-444B-8E17-3AB1BFBEF830}" srcOrd="0" destOrd="0" presId="urn:microsoft.com/office/officeart/2005/8/layout/vList2"/>
    <dgm:cxn modelId="{3CE8606D-65DC-44C4-A46D-965333B5AF43}" type="presParOf" srcId="{1F4C92DD-E3C2-444B-8E17-3AB1BFBEF830}" destId="{84DB8A42-4518-4B81-BBE5-74123F8CC7F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4B43CF3-560E-4DAE-BBDB-6612075C5F28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A190CB-D389-4F2F-A890-F94A428D3640}" type="pres">
      <dgm:prSet presAssocID="{44B43CF3-560E-4DAE-BBDB-6612075C5F28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B8EF6C78-3523-4457-B17B-FA7F291D4199}" type="presOf" srcId="{44B43CF3-560E-4DAE-BBDB-6612075C5F28}" destId="{31A190CB-D389-4F2F-A890-F94A428D364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A4AF792-0F89-4D79-BA28-C7083B59054D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66469B0-8836-4799-AA94-D21ECB036573}">
      <dgm:prSet/>
      <dgm:spPr/>
      <dgm:t>
        <a:bodyPr/>
        <a:lstStyle/>
        <a:p>
          <a:r>
            <a:rPr lang="en-US"/>
            <a:t>Summery </a:t>
          </a:r>
        </a:p>
      </dgm:t>
    </dgm:pt>
    <dgm:pt modelId="{D99142B8-A217-4E10-B6AC-8E85EB4A6E7D}" type="parTrans" cxnId="{8C6B2C16-A76C-4164-8A8F-F47B915F4DA4}">
      <dgm:prSet/>
      <dgm:spPr/>
      <dgm:t>
        <a:bodyPr/>
        <a:lstStyle/>
        <a:p>
          <a:endParaRPr lang="en-US"/>
        </a:p>
      </dgm:t>
    </dgm:pt>
    <dgm:pt modelId="{77687E20-041C-4F37-A1FC-D752348171C2}" type="sibTrans" cxnId="{8C6B2C16-A76C-4164-8A8F-F47B915F4DA4}">
      <dgm:prSet/>
      <dgm:spPr/>
      <dgm:t>
        <a:bodyPr/>
        <a:lstStyle/>
        <a:p>
          <a:endParaRPr lang="en-US"/>
        </a:p>
      </dgm:t>
    </dgm:pt>
    <dgm:pt modelId="{CAA098CF-F0A8-4A62-B83A-A097F2E55D79}" type="pres">
      <dgm:prSet presAssocID="{5A4AF792-0F89-4D79-BA28-C7083B59054D}" presName="linear" presStyleCnt="0">
        <dgm:presLayoutVars>
          <dgm:animLvl val="lvl"/>
          <dgm:resizeHandles val="exact"/>
        </dgm:presLayoutVars>
      </dgm:prSet>
      <dgm:spPr/>
    </dgm:pt>
    <dgm:pt modelId="{EECD1CD6-6B4B-4DA3-9A85-80435FB8BEA2}" type="pres">
      <dgm:prSet presAssocID="{D66469B0-8836-4799-AA94-D21ECB036573}" presName="parentText" presStyleLbl="node1" presStyleIdx="0" presStyleCnt="1" custLinFactNeighborY="-50000">
        <dgm:presLayoutVars>
          <dgm:chMax val="0"/>
          <dgm:bulletEnabled val="1"/>
        </dgm:presLayoutVars>
      </dgm:prSet>
      <dgm:spPr/>
    </dgm:pt>
  </dgm:ptLst>
  <dgm:cxnLst>
    <dgm:cxn modelId="{17CF6610-F266-4BC8-AB29-2C362786890D}" type="presOf" srcId="{5A4AF792-0F89-4D79-BA28-C7083B59054D}" destId="{CAA098CF-F0A8-4A62-B83A-A097F2E55D79}" srcOrd="0" destOrd="0" presId="urn:microsoft.com/office/officeart/2005/8/layout/vList2"/>
    <dgm:cxn modelId="{8C6B2C16-A76C-4164-8A8F-F47B915F4DA4}" srcId="{5A4AF792-0F89-4D79-BA28-C7083B59054D}" destId="{D66469B0-8836-4799-AA94-D21ECB036573}" srcOrd="0" destOrd="0" parTransId="{D99142B8-A217-4E10-B6AC-8E85EB4A6E7D}" sibTransId="{77687E20-041C-4F37-A1FC-D752348171C2}"/>
    <dgm:cxn modelId="{26882CD0-6739-4A2B-920A-5DB135189E46}" type="presOf" srcId="{D66469B0-8836-4799-AA94-D21ECB036573}" destId="{EECD1CD6-6B4B-4DA3-9A85-80435FB8BEA2}" srcOrd="0" destOrd="0" presId="urn:microsoft.com/office/officeart/2005/8/layout/vList2"/>
    <dgm:cxn modelId="{3B885458-8920-407B-8B36-3C554D7DF8B7}" type="presParOf" srcId="{CAA098CF-F0A8-4A62-B83A-A097F2E55D79}" destId="{EECD1CD6-6B4B-4DA3-9A85-80435FB8BEA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0076F7A-09F5-4C8E-8811-9006DBA5C2C5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74ED6E-696A-419A-B902-1C20BB2DB5F0}">
      <dgm:prSet/>
      <dgm:spPr/>
      <dgm:t>
        <a:bodyPr/>
        <a:lstStyle/>
        <a:p>
          <a:r>
            <a:rPr lang="en-US" dirty="0"/>
            <a:t>Before Cross Validation</a:t>
          </a:r>
        </a:p>
      </dgm:t>
    </dgm:pt>
    <dgm:pt modelId="{13B1F3D6-0B05-481A-9E61-12E99B783C40}" type="parTrans" cxnId="{8A862C2A-64B9-45B3-BF28-60AAF2920CDD}">
      <dgm:prSet/>
      <dgm:spPr/>
      <dgm:t>
        <a:bodyPr/>
        <a:lstStyle/>
        <a:p>
          <a:endParaRPr lang="en-US"/>
        </a:p>
      </dgm:t>
    </dgm:pt>
    <dgm:pt modelId="{B3B7CC6F-5333-4297-AEE8-7955F7F1E9D7}" type="sibTrans" cxnId="{8A862C2A-64B9-45B3-BF28-60AAF2920CDD}">
      <dgm:prSet/>
      <dgm:spPr/>
      <dgm:t>
        <a:bodyPr/>
        <a:lstStyle/>
        <a:p>
          <a:endParaRPr lang="en-US"/>
        </a:p>
      </dgm:t>
    </dgm:pt>
    <dgm:pt modelId="{1F4C92DD-E3C2-444B-8E17-3AB1BFBEF830}" type="pres">
      <dgm:prSet presAssocID="{00076F7A-09F5-4C8E-8811-9006DBA5C2C5}" presName="linear" presStyleCnt="0">
        <dgm:presLayoutVars>
          <dgm:animLvl val="lvl"/>
          <dgm:resizeHandles val="exact"/>
        </dgm:presLayoutVars>
      </dgm:prSet>
      <dgm:spPr/>
    </dgm:pt>
    <dgm:pt modelId="{84DB8A42-4518-4B81-BBE5-74123F8CC7F4}" type="pres">
      <dgm:prSet presAssocID="{D974ED6E-696A-419A-B902-1C20BB2DB5F0}" presName="parentText" presStyleLbl="node1" presStyleIdx="0" presStyleCnt="1" custLinFactNeighborX="-391" custLinFactNeighborY="7150">
        <dgm:presLayoutVars>
          <dgm:chMax val="0"/>
          <dgm:bulletEnabled val="1"/>
        </dgm:presLayoutVars>
      </dgm:prSet>
      <dgm:spPr/>
    </dgm:pt>
  </dgm:ptLst>
  <dgm:cxnLst>
    <dgm:cxn modelId="{8A862C2A-64B9-45B3-BF28-60AAF2920CDD}" srcId="{00076F7A-09F5-4C8E-8811-9006DBA5C2C5}" destId="{D974ED6E-696A-419A-B902-1C20BB2DB5F0}" srcOrd="0" destOrd="0" parTransId="{13B1F3D6-0B05-481A-9E61-12E99B783C40}" sibTransId="{B3B7CC6F-5333-4297-AEE8-7955F7F1E9D7}"/>
    <dgm:cxn modelId="{22EFEB37-47C4-4FD7-8DE7-1A58FB68BE4E}" type="presOf" srcId="{D974ED6E-696A-419A-B902-1C20BB2DB5F0}" destId="{84DB8A42-4518-4B81-BBE5-74123F8CC7F4}" srcOrd="0" destOrd="0" presId="urn:microsoft.com/office/officeart/2005/8/layout/vList2"/>
    <dgm:cxn modelId="{6F3DE7D9-58BE-4242-9BE1-19398FA65CE2}" type="presOf" srcId="{00076F7A-09F5-4C8E-8811-9006DBA5C2C5}" destId="{1F4C92DD-E3C2-444B-8E17-3AB1BFBEF830}" srcOrd="0" destOrd="0" presId="urn:microsoft.com/office/officeart/2005/8/layout/vList2"/>
    <dgm:cxn modelId="{3CE8606D-65DC-44C4-A46D-965333B5AF43}" type="presParOf" srcId="{1F4C92DD-E3C2-444B-8E17-3AB1BFBEF830}" destId="{84DB8A42-4518-4B81-BBE5-74123F8CC7F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0076F7A-09F5-4C8E-8811-9006DBA5C2C5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4C92DD-E3C2-444B-8E17-3AB1BFBEF830}" type="pres">
      <dgm:prSet presAssocID="{00076F7A-09F5-4C8E-8811-9006DBA5C2C5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6F3DE7D9-58BE-4242-9BE1-19398FA65CE2}" type="presOf" srcId="{00076F7A-09F5-4C8E-8811-9006DBA5C2C5}" destId="{1F4C92DD-E3C2-444B-8E17-3AB1BFBEF83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0076F7A-09F5-4C8E-8811-9006DBA5C2C5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74ED6E-696A-419A-B902-1C20BB2DB5F0}">
      <dgm:prSet custT="1"/>
      <dgm:spPr/>
      <dgm:t>
        <a:bodyPr/>
        <a:lstStyle/>
        <a:p>
          <a:r>
            <a:rPr lang="en-US" sz="1700" dirty="0"/>
            <a:t>After Cross Validation</a:t>
          </a:r>
        </a:p>
      </dgm:t>
    </dgm:pt>
    <dgm:pt modelId="{13B1F3D6-0B05-481A-9E61-12E99B783C40}" type="parTrans" cxnId="{8A862C2A-64B9-45B3-BF28-60AAF2920CDD}">
      <dgm:prSet/>
      <dgm:spPr/>
      <dgm:t>
        <a:bodyPr/>
        <a:lstStyle/>
        <a:p>
          <a:endParaRPr lang="en-US"/>
        </a:p>
      </dgm:t>
    </dgm:pt>
    <dgm:pt modelId="{B3B7CC6F-5333-4297-AEE8-7955F7F1E9D7}" type="sibTrans" cxnId="{8A862C2A-64B9-45B3-BF28-60AAF2920CDD}">
      <dgm:prSet/>
      <dgm:spPr/>
      <dgm:t>
        <a:bodyPr/>
        <a:lstStyle/>
        <a:p>
          <a:endParaRPr lang="en-US"/>
        </a:p>
      </dgm:t>
    </dgm:pt>
    <dgm:pt modelId="{1F4C92DD-E3C2-444B-8E17-3AB1BFBEF830}" type="pres">
      <dgm:prSet presAssocID="{00076F7A-09F5-4C8E-8811-9006DBA5C2C5}" presName="linear" presStyleCnt="0">
        <dgm:presLayoutVars>
          <dgm:animLvl val="lvl"/>
          <dgm:resizeHandles val="exact"/>
        </dgm:presLayoutVars>
      </dgm:prSet>
      <dgm:spPr/>
    </dgm:pt>
    <dgm:pt modelId="{84DB8A42-4518-4B81-BBE5-74123F8CC7F4}" type="pres">
      <dgm:prSet presAssocID="{D974ED6E-696A-419A-B902-1C20BB2DB5F0}" presName="parentText" presStyleLbl="node1" presStyleIdx="0" presStyleCnt="1" custLinFactNeighborY="2452">
        <dgm:presLayoutVars>
          <dgm:chMax val="0"/>
          <dgm:bulletEnabled val="1"/>
        </dgm:presLayoutVars>
      </dgm:prSet>
      <dgm:spPr/>
    </dgm:pt>
  </dgm:ptLst>
  <dgm:cxnLst>
    <dgm:cxn modelId="{8A862C2A-64B9-45B3-BF28-60AAF2920CDD}" srcId="{00076F7A-09F5-4C8E-8811-9006DBA5C2C5}" destId="{D974ED6E-696A-419A-B902-1C20BB2DB5F0}" srcOrd="0" destOrd="0" parTransId="{13B1F3D6-0B05-481A-9E61-12E99B783C40}" sibTransId="{B3B7CC6F-5333-4297-AEE8-7955F7F1E9D7}"/>
    <dgm:cxn modelId="{22EFEB37-47C4-4FD7-8DE7-1A58FB68BE4E}" type="presOf" srcId="{D974ED6E-696A-419A-B902-1C20BB2DB5F0}" destId="{84DB8A42-4518-4B81-BBE5-74123F8CC7F4}" srcOrd="0" destOrd="0" presId="urn:microsoft.com/office/officeart/2005/8/layout/vList2"/>
    <dgm:cxn modelId="{6F3DE7D9-58BE-4242-9BE1-19398FA65CE2}" type="presOf" srcId="{00076F7A-09F5-4C8E-8811-9006DBA5C2C5}" destId="{1F4C92DD-E3C2-444B-8E17-3AB1BFBEF830}" srcOrd="0" destOrd="0" presId="urn:microsoft.com/office/officeart/2005/8/layout/vList2"/>
    <dgm:cxn modelId="{3CE8606D-65DC-44C4-A46D-965333B5AF43}" type="presParOf" srcId="{1F4C92DD-E3C2-444B-8E17-3AB1BFBEF830}" destId="{84DB8A42-4518-4B81-BBE5-74123F8CC7F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F198173-0978-4050-8898-A58BDBF21901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49D7CF-5CBF-4AC4-8161-9AC9BFD328DC}" type="pres">
      <dgm:prSet presAssocID="{1F198173-0978-4050-8898-A58BDBF21901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71D8ADF4-EEA4-4AA7-A269-7A52991F9642}" type="presOf" srcId="{1F198173-0978-4050-8898-A58BDBF21901}" destId="{0049D7CF-5CBF-4AC4-8161-9AC9BFD328D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0076F7A-09F5-4C8E-8811-9006DBA5C2C5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74ED6E-696A-419A-B902-1C20BB2DB5F0}">
      <dgm:prSet custT="1"/>
      <dgm:spPr/>
      <dgm:t>
        <a:bodyPr/>
        <a:lstStyle/>
        <a:p>
          <a:r>
            <a:rPr lang="en-US" sz="1700" dirty="0"/>
            <a:t>ROC and Threshold For Cross Validated </a:t>
          </a:r>
        </a:p>
      </dgm:t>
    </dgm:pt>
    <dgm:pt modelId="{13B1F3D6-0B05-481A-9E61-12E99B783C40}" type="parTrans" cxnId="{8A862C2A-64B9-45B3-BF28-60AAF2920CDD}">
      <dgm:prSet/>
      <dgm:spPr/>
      <dgm:t>
        <a:bodyPr/>
        <a:lstStyle/>
        <a:p>
          <a:endParaRPr lang="en-US"/>
        </a:p>
      </dgm:t>
    </dgm:pt>
    <dgm:pt modelId="{B3B7CC6F-5333-4297-AEE8-7955F7F1E9D7}" type="sibTrans" cxnId="{8A862C2A-64B9-45B3-BF28-60AAF2920CDD}">
      <dgm:prSet/>
      <dgm:spPr/>
      <dgm:t>
        <a:bodyPr/>
        <a:lstStyle/>
        <a:p>
          <a:endParaRPr lang="en-US"/>
        </a:p>
      </dgm:t>
    </dgm:pt>
    <dgm:pt modelId="{1F4C92DD-E3C2-444B-8E17-3AB1BFBEF830}" type="pres">
      <dgm:prSet presAssocID="{00076F7A-09F5-4C8E-8811-9006DBA5C2C5}" presName="linear" presStyleCnt="0">
        <dgm:presLayoutVars>
          <dgm:animLvl val="lvl"/>
          <dgm:resizeHandles val="exact"/>
        </dgm:presLayoutVars>
      </dgm:prSet>
      <dgm:spPr/>
    </dgm:pt>
    <dgm:pt modelId="{84DB8A42-4518-4B81-BBE5-74123F8CC7F4}" type="pres">
      <dgm:prSet presAssocID="{D974ED6E-696A-419A-B902-1C20BB2DB5F0}" presName="parentText" presStyleLbl="node1" presStyleIdx="0" presStyleCnt="1" custLinFactNeighborY="2452">
        <dgm:presLayoutVars>
          <dgm:chMax val="0"/>
          <dgm:bulletEnabled val="1"/>
        </dgm:presLayoutVars>
      </dgm:prSet>
      <dgm:spPr/>
    </dgm:pt>
  </dgm:ptLst>
  <dgm:cxnLst>
    <dgm:cxn modelId="{8A862C2A-64B9-45B3-BF28-60AAF2920CDD}" srcId="{00076F7A-09F5-4C8E-8811-9006DBA5C2C5}" destId="{D974ED6E-696A-419A-B902-1C20BB2DB5F0}" srcOrd="0" destOrd="0" parTransId="{13B1F3D6-0B05-481A-9E61-12E99B783C40}" sibTransId="{B3B7CC6F-5333-4297-AEE8-7955F7F1E9D7}"/>
    <dgm:cxn modelId="{22EFEB37-47C4-4FD7-8DE7-1A58FB68BE4E}" type="presOf" srcId="{D974ED6E-696A-419A-B902-1C20BB2DB5F0}" destId="{84DB8A42-4518-4B81-BBE5-74123F8CC7F4}" srcOrd="0" destOrd="0" presId="urn:microsoft.com/office/officeart/2005/8/layout/vList2"/>
    <dgm:cxn modelId="{6F3DE7D9-58BE-4242-9BE1-19398FA65CE2}" type="presOf" srcId="{00076F7A-09F5-4C8E-8811-9006DBA5C2C5}" destId="{1F4C92DD-E3C2-444B-8E17-3AB1BFBEF830}" srcOrd="0" destOrd="0" presId="urn:microsoft.com/office/officeart/2005/8/layout/vList2"/>
    <dgm:cxn modelId="{3CE8606D-65DC-44C4-A46D-965333B5AF43}" type="presParOf" srcId="{1F4C92DD-E3C2-444B-8E17-3AB1BFBEF830}" destId="{84DB8A42-4518-4B81-BBE5-74123F8CC7F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141D228-79A1-49E8-BDCA-24403B176F50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EFA6A8-D1DE-49BE-AE1D-D83C1575F68B}" type="pres">
      <dgm:prSet presAssocID="{A141D228-79A1-49E8-BDCA-24403B176F50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57956833-FF33-45AE-B658-E8C43B1176FE}" type="presOf" srcId="{A141D228-79A1-49E8-BDCA-24403B176F50}" destId="{BEEFA6A8-D1DE-49BE-AE1D-D83C1575F68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02623D4-0C8D-4A35-A289-0B57983A161D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9F58CCD-C68C-45AE-AAF3-834DC08AA41B}">
      <dgm:prSet/>
      <dgm:spPr/>
      <dgm:t>
        <a:bodyPr/>
        <a:lstStyle/>
        <a:p>
          <a:r>
            <a:rPr lang="en-US"/>
            <a:t>Summery </a:t>
          </a:r>
        </a:p>
      </dgm:t>
    </dgm:pt>
    <dgm:pt modelId="{D61AAE9E-D417-4901-A087-8A3F4A685064}" type="parTrans" cxnId="{EB17F243-27F0-410B-B180-BE62F6E0ACAE}">
      <dgm:prSet/>
      <dgm:spPr/>
      <dgm:t>
        <a:bodyPr/>
        <a:lstStyle/>
        <a:p>
          <a:endParaRPr lang="en-US"/>
        </a:p>
      </dgm:t>
    </dgm:pt>
    <dgm:pt modelId="{B4F7AD34-1315-4F54-A937-1EB55F8E1BD5}" type="sibTrans" cxnId="{EB17F243-27F0-410B-B180-BE62F6E0ACAE}">
      <dgm:prSet/>
      <dgm:spPr/>
      <dgm:t>
        <a:bodyPr/>
        <a:lstStyle/>
        <a:p>
          <a:endParaRPr lang="en-US"/>
        </a:p>
      </dgm:t>
    </dgm:pt>
    <dgm:pt modelId="{8C8D1B9B-6A07-4A6D-8E5F-ABA45B04E6D2}" type="pres">
      <dgm:prSet presAssocID="{602623D4-0C8D-4A35-A289-0B57983A161D}" presName="linear" presStyleCnt="0">
        <dgm:presLayoutVars>
          <dgm:animLvl val="lvl"/>
          <dgm:resizeHandles val="exact"/>
        </dgm:presLayoutVars>
      </dgm:prSet>
      <dgm:spPr/>
    </dgm:pt>
    <dgm:pt modelId="{5FAF7537-F971-4833-9385-17FB4CF92BBD}" type="pres">
      <dgm:prSet presAssocID="{09F58CCD-C68C-45AE-AAF3-834DC08AA41B}" presName="parentText" presStyleLbl="node1" presStyleIdx="0" presStyleCnt="1" custScaleY="99695" custLinFactNeighborY="-76902">
        <dgm:presLayoutVars>
          <dgm:chMax val="0"/>
          <dgm:bulletEnabled val="1"/>
        </dgm:presLayoutVars>
      </dgm:prSet>
      <dgm:spPr/>
    </dgm:pt>
  </dgm:ptLst>
  <dgm:cxnLst>
    <dgm:cxn modelId="{76292F17-3119-41F0-A57E-238EE279C80E}" type="presOf" srcId="{09F58CCD-C68C-45AE-AAF3-834DC08AA41B}" destId="{5FAF7537-F971-4833-9385-17FB4CF92BBD}" srcOrd="0" destOrd="0" presId="urn:microsoft.com/office/officeart/2005/8/layout/vList2"/>
    <dgm:cxn modelId="{EB17F243-27F0-410B-B180-BE62F6E0ACAE}" srcId="{602623D4-0C8D-4A35-A289-0B57983A161D}" destId="{09F58CCD-C68C-45AE-AAF3-834DC08AA41B}" srcOrd="0" destOrd="0" parTransId="{D61AAE9E-D417-4901-A087-8A3F4A685064}" sibTransId="{B4F7AD34-1315-4F54-A937-1EB55F8E1BD5}"/>
    <dgm:cxn modelId="{B50D8CC6-A0BF-4945-9395-D79BC8BA66FC}" type="presOf" srcId="{602623D4-0C8D-4A35-A289-0B57983A161D}" destId="{8C8D1B9B-6A07-4A6D-8E5F-ABA45B04E6D2}" srcOrd="0" destOrd="0" presId="urn:microsoft.com/office/officeart/2005/8/layout/vList2"/>
    <dgm:cxn modelId="{053DFA36-6C7A-4FB9-98B6-6E7C713DB3C8}" type="presParOf" srcId="{8C8D1B9B-6A07-4A6D-8E5F-ABA45B04E6D2}" destId="{5FAF7537-F971-4833-9385-17FB4CF92BB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EB8A172-0186-449D-A2AF-FF678FA482DE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6CADA7-85A4-4AB4-9C15-4DDBB0B201FD}">
      <dgm:prSet/>
      <dgm:spPr/>
      <dgm:t>
        <a:bodyPr/>
        <a:lstStyle/>
        <a:p>
          <a:r>
            <a:rPr lang="en-US" dirty="0"/>
            <a:t>Tabular &amp; Graphical presentation for two of the Boosting classifiers(</a:t>
          </a:r>
          <a:r>
            <a:rPr lang="en-US" b="0" i="0" dirty="0"/>
            <a:t>Light GBM</a:t>
          </a:r>
          <a:r>
            <a:rPr lang="en-US" dirty="0"/>
            <a:t> and </a:t>
          </a:r>
          <a:r>
            <a:rPr lang="en-US" b="0" i="0" dirty="0"/>
            <a:t>AdaBoost</a:t>
          </a:r>
          <a:r>
            <a:rPr lang="en-US" dirty="0"/>
            <a:t>)</a:t>
          </a:r>
        </a:p>
      </dgm:t>
    </dgm:pt>
    <dgm:pt modelId="{E2D048A3-2DD7-4FC6-90B7-2FB3C4A85145}" type="parTrans" cxnId="{B5949B00-92E3-411A-8A48-39B71127B051}">
      <dgm:prSet/>
      <dgm:spPr/>
      <dgm:t>
        <a:bodyPr/>
        <a:lstStyle/>
        <a:p>
          <a:endParaRPr lang="en-US"/>
        </a:p>
      </dgm:t>
    </dgm:pt>
    <dgm:pt modelId="{BD27D329-7025-4A13-B3A2-5B4C3AECF1C2}" type="sibTrans" cxnId="{B5949B00-92E3-411A-8A48-39B71127B051}">
      <dgm:prSet/>
      <dgm:spPr/>
      <dgm:t>
        <a:bodyPr/>
        <a:lstStyle/>
        <a:p>
          <a:endParaRPr lang="en-US"/>
        </a:p>
      </dgm:t>
    </dgm:pt>
    <dgm:pt modelId="{ED093BD7-ECC6-46C8-A5EB-F7FE4B7ECE53}" type="pres">
      <dgm:prSet presAssocID="{EEB8A172-0186-449D-A2AF-FF678FA482DE}" presName="linear" presStyleCnt="0">
        <dgm:presLayoutVars>
          <dgm:animLvl val="lvl"/>
          <dgm:resizeHandles val="exact"/>
        </dgm:presLayoutVars>
      </dgm:prSet>
      <dgm:spPr/>
    </dgm:pt>
    <dgm:pt modelId="{31CA2F3F-A97A-4065-8A72-2893EF669902}" type="pres">
      <dgm:prSet presAssocID="{376CADA7-85A4-4AB4-9C15-4DDBB0B201FD}" presName="parentText" presStyleLbl="node1" presStyleIdx="0" presStyleCnt="1" custLinFactNeighborY="-30585">
        <dgm:presLayoutVars>
          <dgm:chMax val="0"/>
          <dgm:bulletEnabled val="1"/>
        </dgm:presLayoutVars>
      </dgm:prSet>
      <dgm:spPr/>
    </dgm:pt>
  </dgm:ptLst>
  <dgm:cxnLst>
    <dgm:cxn modelId="{B5949B00-92E3-411A-8A48-39B71127B051}" srcId="{EEB8A172-0186-449D-A2AF-FF678FA482DE}" destId="{376CADA7-85A4-4AB4-9C15-4DDBB0B201FD}" srcOrd="0" destOrd="0" parTransId="{E2D048A3-2DD7-4FC6-90B7-2FB3C4A85145}" sibTransId="{BD27D329-7025-4A13-B3A2-5B4C3AECF1C2}"/>
    <dgm:cxn modelId="{8699BF40-C79D-47F6-A813-E0B57FEA3103}" type="presOf" srcId="{EEB8A172-0186-449D-A2AF-FF678FA482DE}" destId="{ED093BD7-ECC6-46C8-A5EB-F7FE4B7ECE53}" srcOrd="0" destOrd="0" presId="urn:microsoft.com/office/officeart/2005/8/layout/vList2"/>
    <dgm:cxn modelId="{BAF23A98-BEE6-4CD2-8A27-15BB4A74563C}" type="presOf" srcId="{376CADA7-85A4-4AB4-9C15-4DDBB0B201FD}" destId="{31CA2F3F-A97A-4065-8A72-2893EF669902}" srcOrd="0" destOrd="0" presId="urn:microsoft.com/office/officeart/2005/8/layout/vList2"/>
    <dgm:cxn modelId="{F67BD1A0-1DE7-482C-BD1D-C8090FF49429}" type="presParOf" srcId="{ED093BD7-ECC6-46C8-A5EB-F7FE4B7ECE53}" destId="{31CA2F3F-A97A-4065-8A72-2893EF66990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41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3AFD189-FEDA-4AAA-B051-85D6D9448CA0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DE3C28B-65BE-4632-84AD-673F09BDC896}">
      <dgm:prSet/>
      <dgm:spPr/>
      <dgm:t>
        <a:bodyPr/>
        <a:lstStyle/>
        <a:p>
          <a:r>
            <a:rPr lang="en-US" dirty="0"/>
            <a:t>Graphical Presentation</a:t>
          </a:r>
        </a:p>
      </dgm:t>
    </dgm:pt>
    <dgm:pt modelId="{0D820D87-4367-4CCF-873E-2AA718D9F07B}" type="parTrans" cxnId="{7B3A62CF-37B2-440B-8FEE-58DC8199F48A}">
      <dgm:prSet/>
      <dgm:spPr/>
      <dgm:t>
        <a:bodyPr/>
        <a:lstStyle/>
        <a:p>
          <a:endParaRPr lang="en-US"/>
        </a:p>
      </dgm:t>
    </dgm:pt>
    <dgm:pt modelId="{21B77761-0700-4494-8A5D-B63F9B64E386}" type="sibTrans" cxnId="{7B3A62CF-37B2-440B-8FEE-58DC8199F48A}">
      <dgm:prSet/>
      <dgm:spPr/>
      <dgm:t>
        <a:bodyPr/>
        <a:lstStyle/>
        <a:p>
          <a:endParaRPr lang="en-US"/>
        </a:p>
      </dgm:t>
    </dgm:pt>
    <dgm:pt modelId="{05FBAFCD-551B-4F51-BAE1-3D414786813A}" type="pres">
      <dgm:prSet presAssocID="{53AFD189-FEDA-4AAA-B051-85D6D9448CA0}" presName="linear" presStyleCnt="0">
        <dgm:presLayoutVars>
          <dgm:animLvl val="lvl"/>
          <dgm:resizeHandles val="exact"/>
        </dgm:presLayoutVars>
      </dgm:prSet>
      <dgm:spPr/>
    </dgm:pt>
    <dgm:pt modelId="{DD1BDB88-3844-438D-9645-82FE0844FD14}" type="pres">
      <dgm:prSet presAssocID="{5DE3C28B-65BE-4632-84AD-673F09BDC896}" presName="parentText" presStyleLbl="node1" presStyleIdx="0" presStyleCnt="1" custLinFactNeighborY="0">
        <dgm:presLayoutVars>
          <dgm:chMax val="0"/>
          <dgm:bulletEnabled val="1"/>
        </dgm:presLayoutVars>
      </dgm:prSet>
      <dgm:spPr/>
    </dgm:pt>
  </dgm:ptLst>
  <dgm:cxnLst>
    <dgm:cxn modelId="{F7DFAC62-0732-4D98-A05E-9AB9DAD3A173}" type="presOf" srcId="{53AFD189-FEDA-4AAA-B051-85D6D9448CA0}" destId="{05FBAFCD-551B-4F51-BAE1-3D414786813A}" srcOrd="0" destOrd="0" presId="urn:microsoft.com/office/officeart/2005/8/layout/vList2"/>
    <dgm:cxn modelId="{AEA67680-4CA5-4845-A0AE-2B26C36E7E27}" type="presOf" srcId="{5DE3C28B-65BE-4632-84AD-673F09BDC896}" destId="{DD1BDB88-3844-438D-9645-82FE0844FD14}" srcOrd="0" destOrd="0" presId="urn:microsoft.com/office/officeart/2005/8/layout/vList2"/>
    <dgm:cxn modelId="{7B3A62CF-37B2-440B-8FEE-58DC8199F48A}" srcId="{53AFD189-FEDA-4AAA-B051-85D6D9448CA0}" destId="{5DE3C28B-65BE-4632-84AD-673F09BDC896}" srcOrd="0" destOrd="0" parTransId="{0D820D87-4367-4CCF-873E-2AA718D9F07B}" sibTransId="{21B77761-0700-4494-8A5D-B63F9B64E386}"/>
    <dgm:cxn modelId="{7E7FE21F-B801-46E7-A071-A3F8D613E06F}" type="presParOf" srcId="{05FBAFCD-551B-4F51-BAE1-3D414786813A}" destId="{DD1BDB88-3844-438D-9645-82FE0844FD1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4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81DFFA-59F2-4013-9B4D-E833B5913BC2}">
      <dsp:nvSpPr>
        <dsp:cNvPr id="0" name=""/>
        <dsp:cNvSpPr/>
      </dsp:nvSpPr>
      <dsp:spPr>
        <a:xfrm>
          <a:off x="0" y="28571"/>
          <a:ext cx="3532094" cy="617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Checking Significance of variables Using OLS Regression </a:t>
          </a:r>
        </a:p>
      </dsp:txBody>
      <dsp:txXfrm>
        <a:off x="30157" y="58728"/>
        <a:ext cx="3471780" cy="5574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745AD1-FCCB-4931-9700-241F6A39AC17}">
      <dsp:nvSpPr>
        <dsp:cNvPr id="0" name=""/>
        <dsp:cNvSpPr/>
      </dsp:nvSpPr>
      <dsp:spPr>
        <a:xfrm flipH="1">
          <a:off x="0" y="18332"/>
          <a:ext cx="2567984" cy="351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Comments on the models  </a:t>
          </a:r>
        </a:p>
      </dsp:txBody>
      <dsp:txXfrm>
        <a:off x="17134" y="35466"/>
        <a:ext cx="2533716" cy="3167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745AD1-FCCB-4931-9700-241F6A39AC17}">
      <dsp:nvSpPr>
        <dsp:cNvPr id="0" name=""/>
        <dsp:cNvSpPr/>
      </dsp:nvSpPr>
      <dsp:spPr>
        <a:xfrm flipH="1">
          <a:off x="18" y="18332"/>
          <a:ext cx="2788226" cy="351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Analyze Variable Importance  </a:t>
          </a:r>
        </a:p>
      </dsp:txBody>
      <dsp:txXfrm>
        <a:off x="17152" y="35466"/>
        <a:ext cx="2753958" cy="3167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0FB092-27EA-4CAE-A73B-3A3693F6463E}">
      <dsp:nvSpPr>
        <dsp:cNvPr id="0" name=""/>
        <dsp:cNvSpPr/>
      </dsp:nvSpPr>
      <dsp:spPr>
        <a:xfrm>
          <a:off x="0" y="924"/>
          <a:ext cx="9202367" cy="64017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Random forest to forecast and to calculating test set accuracy</a:t>
          </a:r>
        </a:p>
      </dsp:txBody>
      <dsp:txXfrm>
        <a:off x="31251" y="32175"/>
        <a:ext cx="9139865" cy="5776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DB8A42-4518-4B81-BBE5-74123F8CC7F4}">
      <dsp:nvSpPr>
        <dsp:cNvPr id="0" name=""/>
        <dsp:cNvSpPr/>
      </dsp:nvSpPr>
      <dsp:spPr>
        <a:xfrm>
          <a:off x="0" y="56888"/>
          <a:ext cx="2295728" cy="397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Before Cross Validation</a:t>
          </a:r>
        </a:p>
      </dsp:txBody>
      <dsp:txXfrm>
        <a:off x="19419" y="76307"/>
        <a:ext cx="2256890" cy="3589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DB8A42-4518-4B81-BBE5-74123F8CC7F4}">
      <dsp:nvSpPr>
        <dsp:cNvPr id="0" name=""/>
        <dsp:cNvSpPr/>
      </dsp:nvSpPr>
      <dsp:spPr>
        <a:xfrm>
          <a:off x="0" y="0"/>
          <a:ext cx="1971471" cy="42615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After Cross Validation</a:t>
          </a:r>
        </a:p>
      </dsp:txBody>
      <dsp:txXfrm>
        <a:off x="20803" y="20803"/>
        <a:ext cx="1929865" cy="3845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CD1CD6-6B4B-4DA3-9A85-80435FB8BEA2}">
      <dsp:nvSpPr>
        <dsp:cNvPr id="0" name=""/>
        <dsp:cNvSpPr/>
      </dsp:nvSpPr>
      <dsp:spPr>
        <a:xfrm>
          <a:off x="0" y="0"/>
          <a:ext cx="2581835" cy="351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Summery </a:t>
          </a:r>
        </a:p>
      </dsp:txBody>
      <dsp:txXfrm>
        <a:off x="17134" y="17134"/>
        <a:ext cx="2547567" cy="31673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DB8A42-4518-4B81-BBE5-74123F8CC7F4}">
      <dsp:nvSpPr>
        <dsp:cNvPr id="0" name=""/>
        <dsp:cNvSpPr/>
      </dsp:nvSpPr>
      <dsp:spPr>
        <a:xfrm>
          <a:off x="0" y="56887"/>
          <a:ext cx="2295728" cy="397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Before Cross Validation</a:t>
          </a:r>
        </a:p>
      </dsp:txBody>
      <dsp:txXfrm>
        <a:off x="19419" y="76306"/>
        <a:ext cx="2256890" cy="35896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DB8A42-4518-4B81-BBE5-74123F8CC7F4}">
      <dsp:nvSpPr>
        <dsp:cNvPr id="0" name=""/>
        <dsp:cNvSpPr/>
      </dsp:nvSpPr>
      <dsp:spPr>
        <a:xfrm>
          <a:off x="0" y="5408"/>
          <a:ext cx="2295728" cy="4492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After Cross Validation</a:t>
          </a:r>
        </a:p>
      </dsp:txBody>
      <dsp:txXfrm>
        <a:off x="21932" y="27340"/>
        <a:ext cx="2251864" cy="40541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DB8A42-4518-4B81-BBE5-74123F8CC7F4}">
      <dsp:nvSpPr>
        <dsp:cNvPr id="0" name=""/>
        <dsp:cNvSpPr/>
      </dsp:nvSpPr>
      <dsp:spPr>
        <a:xfrm>
          <a:off x="0" y="5408"/>
          <a:ext cx="3692204" cy="4492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ROC and Threshold For Cross Validated </a:t>
          </a:r>
        </a:p>
      </dsp:txBody>
      <dsp:txXfrm>
        <a:off x="21932" y="27340"/>
        <a:ext cx="3648340" cy="40541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AF7537-F971-4833-9385-17FB4CF92BBD}">
      <dsp:nvSpPr>
        <dsp:cNvPr id="0" name=""/>
        <dsp:cNvSpPr/>
      </dsp:nvSpPr>
      <dsp:spPr>
        <a:xfrm>
          <a:off x="0" y="0"/>
          <a:ext cx="1810937" cy="44324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Summery </a:t>
          </a:r>
        </a:p>
      </dsp:txBody>
      <dsp:txXfrm>
        <a:off x="21637" y="21637"/>
        <a:ext cx="1767663" cy="39996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CA2F3F-A97A-4065-8A72-2893EF669902}">
      <dsp:nvSpPr>
        <dsp:cNvPr id="0" name=""/>
        <dsp:cNvSpPr/>
      </dsp:nvSpPr>
      <dsp:spPr>
        <a:xfrm>
          <a:off x="0" y="2598"/>
          <a:ext cx="8869710" cy="397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Tabular &amp; Graphical presentation for two of the Boosting classifiers(</a:t>
          </a:r>
          <a:r>
            <a:rPr lang="en-US" sz="1700" b="0" i="0" kern="1200" dirty="0"/>
            <a:t>Light GBM</a:t>
          </a:r>
          <a:r>
            <a:rPr lang="en-US" sz="1700" kern="1200" dirty="0"/>
            <a:t> and </a:t>
          </a:r>
          <a:r>
            <a:rPr lang="en-US" sz="1700" b="0" i="0" kern="1200" dirty="0"/>
            <a:t>AdaBoost</a:t>
          </a:r>
          <a:r>
            <a:rPr lang="en-US" sz="1700" kern="1200" dirty="0"/>
            <a:t>)</a:t>
          </a:r>
        </a:p>
      </dsp:txBody>
      <dsp:txXfrm>
        <a:off x="19419" y="22017"/>
        <a:ext cx="8830872" cy="358962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1BDB88-3844-438D-9645-82FE0844FD14}">
      <dsp:nvSpPr>
        <dsp:cNvPr id="0" name=""/>
        <dsp:cNvSpPr/>
      </dsp:nvSpPr>
      <dsp:spPr>
        <a:xfrm>
          <a:off x="0" y="51844"/>
          <a:ext cx="2052471" cy="351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Graphical Presentation</a:t>
          </a:r>
        </a:p>
      </dsp:txBody>
      <dsp:txXfrm>
        <a:off x="17134" y="68978"/>
        <a:ext cx="2018203" cy="3167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4/18/2022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4/18/2022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4/18/2022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4/18/2022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image" Target="../media/image3.png"/><Relationship Id="rId3" Type="http://schemas.openxmlformats.org/officeDocument/2006/relationships/diagramLayout" Target="../diagrams/layout1.xml"/><Relationship Id="rId21" Type="http://schemas.openxmlformats.org/officeDocument/2006/relationships/image" Target="../media/image6.png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image" Target="../media/image2.png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23" Type="http://schemas.openxmlformats.org/officeDocument/2006/relationships/image" Target="../media/image8.png"/><Relationship Id="rId10" Type="http://schemas.openxmlformats.org/officeDocument/2006/relationships/diagramColors" Target="../diagrams/colors2.xml"/><Relationship Id="rId19" Type="http://schemas.openxmlformats.org/officeDocument/2006/relationships/image" Target="../media/image4.svg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Relationship Id="rId22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microsoft.com/office/2007/relationships/diagramDrawing" Target="../diagrams/drawing5.xml"/><Relationship Id="rId18" Type="http://schemas.microsoft.com/office/2007/relationships/diagramDrawing" Target="../diagrams/drawing6.xml"/><Relationship Id="rId3" Type="http://schemas.openxmlformats.org/officeDocument/2006/relationships/diagramLayout" Target="../diagrams/layout4.xml"/><Relationship Id="rId7" Type="http://schemas.openxmlformats.org/officeDocument/2006/relationships/image" Target="../media/image9.png"/><Relationship Id="rId12" Type="http://schemas.openxmlformats.org/officeDocument/2006/relationships/diagramColors" Target="../diagrams/colors5.xml"/><Relationship Id="rId17" Type="http://schemas.openxmlformats.org/officeDocument/2006/relationships/diagramColors" Target="../diagrams/colors6.xml"/><Relationship Id="rId2" Type="http://schemas.openxmlformats.org/officeDocument/2006/relationships/diagramData" Target="../diagrams/data4.xml"/><Relationship Id="rId16" Type="http://schemas.openxmlformats.org/officeDocument/2006/relationships/diagramQuickStyle" Target="../diagrams/quickStyle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11" Type="http://schemas.openxmlformats.org/officeDocument/2006/relationships/diagramQuickStyle" Target="../diagrams/quickStyle5.xml"/><Relationship Id="rId5" Type="http://schemas.openxmlformats.org/officeDocument/2006/relationships/diagramColors" Target="../diagrams/colors4.xml"/><Relationship Id="rId15" Type="http://schemas.openxmlformats.org/officeDocument/2006/relationships/diagramLayout" Target="../diagrams/layout6.xml"/><Relationship Id="rId10" Type="http://schemas.openxmlformats.org/officeDocument/2006/relationships/diagramLayout" Target="../diagrams/layout5.xml"/><Relationship Id="rId4" Type="http://schemas.openxmlformats.org/officeDocument/2006/relationships/diagramQuickStyle" Target="../diagrams/quickStyle4.xml"/><Relationship Id="rId9" Type="http://schemas.openxmlformats.org/officeDocument/2006/relationships/diagramData" Target="../diagrams/data5.xml"/><Relationship Id="rId14" Type="http://schemas.openxmlformats.org/officeDocument/2006/relationships/diagramData" Target="../diagrams/data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microsoft.com/office/2007/relationships/diagramDrawing" Target="../diagrams/drawing8.xml"/><Relationship Id="rId3" Type="http://schemas.openxmlformats.org/officeDocument/2006/relationships/diagramLayout" Target="../diagrams/layout7.xml"/><Relationship Id="rId7" Type="http://schemas.openxmlformats.org/officeDocument/2006/relationships/image" Target="../media/image11.png"/><Relationship Id="rId12" Type="http://schemas.openxmlformats.org/officeDocument/2006/relationships/diagramColors" Target="../diagrams/colors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11" Type="http://schemas.openxmlformats.org/officeDocument/2006/relationships/diagramQuickStyle" Target="../diagrams/quickStyle8.xml"/><Relationship Id="rId5" Type="http://schemas.openxmlformats.org/officeDocument/2006/relationships/diagramColors" Target="../diagrams/colors7.xml"/><Relationship Id="rId10" Type="http://schemas.openxmlformats.org/officeDocument/2006/relationships/diagramLayout" Target="../diagrams/layout8.xml"/><Relationship Id="rId4" Type="http://schemas.openxmlformats.org/officeDocument/2006/relationships/diagramQuickStyle" Target="../diagrams/quickStyle7.xml"/><Relationship Id="rId9" Type="http://schemas.openxmlformats.org/officeDocument/2006/relationships/diagramData" Target="../diagrams/data8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11.xml"/><Relationship Id="rId18" Type="http://schemas.openxmlformats.org/officeDocument/2006/relationships/diagramLayout" Target="../diagrams/layout12.xml"/><Relationship Id="rId26" Type="http://schemas.microsoft.com/office/2007/relationships/diagramDrawing" Target="../diagrams/drawing13.xml"/><Relationship Id="rId39" Type="http://schemas.openxmlformats.org/officeDocument/2006/relationships/diagramQuickStyle" Target="../diagrams/quickStyle16.xml"/><Relationship Id="rId21" Type="http://schemas.microsoft.com/office/2007/relationships/diagramDrawing" Target="../diagrams/drawing12.xml"/><Relationship Id="rId34" Type="http://schemas.openxmlformats.org/officeDocument/2006/relationships/diagramQuickStyle" Target="../diagrams/quickStyle15.xml"/><Relationship Id="rId42" Type="http://schemas.openxmlformats.org/officeDocument/2006/relationships/diagramData" Target="../diagrams/data17.xml"/><Relationship Id="rId47" Type="http://schemas.openxmlformats.org/officeDocument/2006/relationships/image" Target="../media/image13.png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6" Type="http://schemas.microsoft.com/office/2007/relationships/diagramDrawing" Target="../diagrams/drawing11.xml"/><Relationship Id="rId29" Type="http://schemas.openxmlformats.org/officeDocument/2006/relationships/diagramQuickStyle" Target="../diagrams/quickStyle1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24" Type="http://schemas.openxmlformats.org/officeDocument/2006/relationships/diagramQuickStyle" Target="../diagrams/quickStyle13.xml"/><Relationship Id="rId32" Type="http://schemas.openxmlformats.org/officeDocument/2006/relationships/diagramData" Target="../diagrams/data15.xml"/><Relationship Id="rId37" Type="http://schemas.openxmlformats.org/officeDocument/2006/relationships/diagramData" Target="../diagrams/data16.xml"/><Relationship Id="rId40" Type="http://schemas.openxmlformats.org/officeDocument/2006/relationships/diagramColors" Target="../diagrams/colors16.xml"/><Relationship Id="rId45" Type="http://schemas.openxmlformats.org/officeDocument/2006/relationships/diagramColors" Target="../diagrams/colors17.xml"/><Relationship Id="rId5" Type="http://schemas.openxmlformats.org/officeDocument/2006/relationships/diagramColors" Target="../diagrams/colors9.xml"/><Relationship Id="rId15" Type="http://schemas.openxmlformats.org/officeDocument/2006/relationships/diagramColors" Target="../diagrams/colors11.xml"/><Relationship Id="rId23" Type="http://schemas.openxmlformats.org/officeDocument/2006/relationships/diagramLayout" Target="../diagrams/layout13.xml"/><Relationship Id="rId28" Type="http://schemas.openxmlformats.org/officeDocument/2006/relationships/diagramLayout" Target="../diagrams/layout14.xml"/><Relationship Id="rId36" Type="http://schemas.microsoft.com/office/2007/relationships/diagramDrawing" Target="../diagrams/drawing15.xml"/><Relationship Id="rId10" Type="http://schemas.openxmlformats.org/officeDocument/2006/relationships/diagramColors" Target="../diagrams/colors10.xml"/><Relationship Id="rId19" Type="http://schemas.openxmlformats.org/officeDocument/2006/relationships/diagramQuickStyle" Target="../diagrams/quickStyle12.xml"/><Relationship Id="rId31" Type="http://schemas.microsoft.com/office/2007/relationships/diagramDrawing" Target="../diagrams/drawing14.xml"/><Relationship Id="rId44" Type="http://schemas.openxmlformats.org/officeDocument/2006/relationships/diagramQuickStyle" Target="../diagrams/quickStyle17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Relationship Id="rId14" Type="http://schemas.openxmlformats.org/officeDocument/2006/relationships/diagramQuickStyle" Target="../diagrams/quickStyle11.xml"/><Relationship Id="rId22" Type="http://schemas.openxmlformats.org/officeDocument/2006/relationships/diagramData" Target="../diagrams/data13.xml"/><Relationship Id="rId27" Type="http://schemas.openxmlformats.org/officeDocument/2006/relationships/diagramData" Target="../diagrams/data14.xml"/><Relationship Id="rId30" Type="http://schemas.openxmlformats.org/officeDocument/2006/relationships/diagramColors" Target="../diagrams/colors14.xml"/><Relationship Id="rId35" Type="http://schemas.openxmlformats.org/officeDocument/2006/relationships/diagramColors" Target="../diagrams/colors15.xml"/><Relationship Id="rId43" Type="http://schemas.openxmlformats.org/officeDocument/2006/relationships/diagramLayout" Target="../diagrams/layout17.xml"/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12" Type="http://schemas.openxmlformats.org/officeDocument/2006/relationships/diagramData" Target="../diagrams/data11.xml"/><Relationship Id="rId17" Type="http://schemas.openxmlformats.org/officeDocument/2006/relationships/diagramData" Target="../diagrams/data12.xml"/><Relationship Id="rId25" Type="http://schemas.openxmlformats.org/officeDocument/2006/relationships/diagramColors" Target="../diagrams/colors13.xml"/><Relationship Id="rId33" Type="http://schemas.openxmlformats.org/officeDocument/2006/relationships/diagramLayout" Target="../diagrams/layout15.xml"/><Relationship Id="rId38" Type="http://schemas.openxmlformats.org/officeDocument/2006/relationships/diagramLayout" Target="../diagrams/layout16.xml"/><Relationship Id="rId46" Type="http://schemas.microsoft.com/office/2007/relationships/diagramDrawing" Target="../diagrams/drawing17.xml"/><Relationship Id="rId20" Type="http://schemas.openxmlformats.org/officeDocument/2006/relationships/diagramColors" Target="../diagrams/colors12.xml"/><Relationship Id="rId41" Type="http://schemas.microsoft.com/office/2007/relationships/diagramDrawing" Target="../diagrams/drawing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Applied</a:t>
            </a:r>
            <a:r>
              <a:rPr lang="en-US" sz="5400" dirty="0">
                <a:solidFill>
                  <a:schemeClr val="bg1"/>
                </a:solidFill>
              </a:rPr>
              <a:t> </a:t>
            </a:r>
            <a:r>
              <a:rPr lang="en-US" sz="5400" b="1" dirty="0">
                <a:solidFill>
                  <a:schemeClr val="bg1"/>
                </a:solidFill>
              </a:rPr>
              <a:t>Machine Learning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HW_4_RF_Boosting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Group 02 - Alpha Team</a:t>
            </a:r>
          </a:p>
          <a:p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A7103D1-7FB6-4E48-AFEA-57A1CE956A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3100126"/>
              </p:ext>
            </p:extLst>
          </p:nvPr>
        </p:nvGraphicFramePr>
        <p:xfrm>
          <a:off x="424874" y="791828"/>
          <a:ext cx="3532094" cy="646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D63673F-B251-4C64-BE2A-0364804EB884}"/>
              </a:ext>
            </a:extLst>
          </p:cNvPr>
          <p:cNvSpPr txBox="1"/>
          <p:nvPr/>
        </p:nvSpPr>
        <p:spPr>
          <a:xfrm>
            <a:off x="7788304" y="2159924"/>
            <a:ext cx="42966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The log-likelihood for the initial model is higher.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On the adjusted model even if keeping the most less significant variable which is KPI_assessment the log-likelihood gets lower.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No difference in the Adj-R-squared</a:t>
            </a:r>
          </a:p>
          <a:p>
            <a:r>
              <a:rPr lang="en-US" sz="1200" dirty="0"/>
              <a:t>Based on this we decided to perform Random Forest on the initial model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200" dirty="0"/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A851D941-53CF-4C57-815D-AAC5DD108C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5992684"/>
              </p:ext>
            </p:extLst>
          </p:nvPr>
        </p:nvGraphicFramePr>
        <p:xfrm>
          <a:off x="7958411" y="1676172"/>
          <a:ext cx="3771900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70F29582-8EEA-4120-AE8F-DD7EA1AC2D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968247"/>
              </p:ext>
            </p:extLst>
          </p:nvPr>
        </p:nvGraphicFramePr>
        <p:xfrm>
          <a:off x="8072225" y="3442743"/>
          <a:ext cx="3771900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4CB755C1-8D06-4AEB-94CD-421AEE87B660}"/>
              </a:ext>
            </a:extLst>
          </p:cNvPr>
          <p:cNvGrpSpPr/>
          <p:nvPr/>
        </p:nvGrpSpPr>
        <p:grpSpPr>
          <a:xfrm>
            <a:off x="445193" y="1731845"/>
            <a:ext cx="3643160" cy="4460785"/>
            <a:chOff x="424874" y="1477878"/>
            <a:chExt cx="3643160" cy="446078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E20BF0-C9D2-464F-9B8B-EE8D40CC3CDB}"/>
                </a:ext>
              </a:extLst>
            </p:cNvPr>
            <p:cNvSpPr txBox="1"/>
            <p:nvPr/>
          </p:nvSpPr>
          <p:spPr>
            <a:xfrm>
              <a:off x="424874" y="1477878"/>
              <a:ext cx="152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Initial Model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E18D1EA-722A-4EB9-90D4-531F0F616FAB}"/>
                </a:ext>
              </a:extLst>
            </p:cNvPr>
            <p:cNvGrpSpPr/>
            <p:nvPr/>
          </p:nvGrpSpPr>
          <p:grpSpPr>
            <a:xfrm>
              <a:off x="535940" y="1791537"/>
              <a:ext cx="3532094" cy="4147126"/>
              <a:chOff x="535940" y="1791537"/>
              <a:chExt cx="3532094" cy="41471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602B70F1-2A51-4C8B-9A7C-88EBE3D1A1B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/>
              <a:srcRect l="9016" t="24108" r="62013" b="15421"/>
              <a:stretch/>
            </p:blipFill>
            <p:spPr>
              <a:xfrm>
                <a:off x="535940" y="1791537"/>
                <a:ext cx="3532094" cy="4147126"/>
              </a:xfrm>
              <a:prstGeom prst="rect">
                <a:avLst/>
              </a:prstGeom>
              <a:ln>
                <a:solidFill>
                  <a:srgbClr val="00B050"/>
                </a:solidFill>
              </a:ln>
            </p:spPr>
          </p:pic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DFCD6BA-0C56-4874-95A6-BD9CA83BAB4C}"/>
                  </a:ext>
                </a:extLst>
              </p:cNvPr>
              <p:cNvGrpSpPr/>
              <p:nvPr/>
            </p:nvGrpSpPr>
            <p:grpSpPr>
              <a:xfrm>
                <a:off x="2933700" y="1791854"/>
                <a:ext cx="1118172" cy="2655369"/>
                <a:chOff x="2933700" y="1791854"/>
                <a:chExt cx="1118172" cy="2655369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4897DF00-22E3-47ED-BFC3-369D32640D0D}"/>
                    </a:ext>
                  </a:extLst>
                </p:cNvPr>
                <p:cNvSpPr/>
                <p:nvPr/>
              </p:nvSpPr>
              <p:spPr>
                <a:xfrm>
                  <a:off x="2933700" y="4150043"/>
                  <a:ext cx="251460" cy="119380"/>
                </a:xfrm>
                <a:prstGeom prst="rect">
                  <a:avLst/>
                </a:prstGeom>
                <a:noFill/>
                <a:ln w="952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3AD9C093-AD7F-4D80-8232-F7C6F2BE1249}"/>
                    </a:ext>
                  </a:extLst>
                </p:cNvPr>
                <p:cNvSpPr/>
                <p:nvPr/>
              </p:nvSpPr>
              <p:spPr>
                <a:xfrm>
                  <a:off x="2936240" y="4320223"/>
                  <a:ext cx="248920" cy="127000"/>
                </a:xfrm>
                <a:prstGeom prst="rect">
                  <a:avLst/>
                </a:prstGeom>
                <a:noFill/>
                <a:ln w="952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3F1506DF-248C-4348-B342-BABA4506FD50}"/>
                    </a:ext>
                  </a:extLst>
                </p:cNvPr>
                <p:cNvSpPr/>
                <p:nvPr/>
              </p:nvSpPr>
              <p:spPr>
                <a:xfrm>
                  <a:off x="3020060" y="2780348"/>
                  <a:ext cx="340360" cy="128270"/>
                </a:xfrm>
                <a:prstGeom prst="rect">
                  <a:avLst/>
                </a:prstGeom>
                <a:noFill/>
                <a:ln w="952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CB6223D2-CF3C-4E90-B966-367B54274956}"/>
                    </a:ext>
                  </a:extLst>
                </p:cNvPr>
                <p:cNvSpPr/>
                <p:nvPr/>
              </p:nvSpPr>
              <p:spPr>
                <a:xfrm>
                  <a:off x="3030445" y="2249488"/>
                  <a:ext cx="340360" cy="128270"/>
                </a:xfrm>
                <a:prstGeom prst="rect">
                  <a:avLst/>
                </a:prstGeom>
                <a:noFill/>
                <a:ln w="9525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27" name="Graphic 26" descr="Checkmark">
                  <a:extLst>
                    <a:ext uri="{FF2B5EF4-FFF2-40B4-BE49-F238E27FC236}">
                      <a16:creationId xmlns:a16="http://schemas.microsoft.com/office/drawing/2014/main" id="{646BF166-52F7-4170-977D-9263E4979C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785172" y="1791854"/>
                  <a:ext cx="266700" cy="26670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2FD859E-1B8F-45F0-BF69-EFA242B68715}"/>
              </a:ext>
            </a:extLst>
          </p:cNvPr>
          <p:cNvGrpSpPr/>
          <p:nvPr/>
        </p:nvGrpSpPr>
        <p:grpSpPr>
          <a:xfrm>
            <a:off x="4303479" y="1731845"/>
            <a:ext cx="3376705" cy="4246733"/>
            <a:chOff x="4283160" y="1477878"/>
            <a:chExt cx="3376705" cy="424673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4B9E2C1-8D1A-419E-A38A-C4188FD9EF5F}"/>
                </a:ext>
              </a:extLst>
            </p:cNvPr>
            <p:cNvSpPr txBox="1"/>
            <p:nvPr/>
          </p:nvSpPr>
          <p:spPr>
            <a:xfrm>
              <a:off x="4283160" y="1477878"/>
              <a:ext cx="1766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Adjusted Model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04D9B72-AE51-43B2-BA8B-FFD04AEC59B8}"/>
                </a:ext>
              </a:extLst>
            </p:cNvPr>
            <p:cNvGrpSpPr/>
            <p:nvPr/>
          </p:nvGrpSpPr>
          <p:grpSpPr>
            <a:xfrm>
              <a:off x="4283160" y="1791537"/>
              <a:ext cx="3376705" cy="3933074"/>
              <a:chOff x="4261768" y="1791537"/>
              <a:chExt cx="3376705" cy="393307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882F332-7971-4426-BCAB-5C345E49514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0"/>
              <a:srcRect l="22985" t="30786" r="49319" b="11975"/>
              <a:stretch/>
            </p:blipFill>
            <p:spPr>
              <a:xfrm>
                <a:off x="4261768" y="1799157"/>
                <a:ext cx="3376705" cy="3925454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</p:pic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72412B7-A0B0-4771-B89E-B2EF81BF7CDA}"/>
                  </a:ext>
                </a:extLst>
              </p:cNvPr>
              <p:cNvSpPr/>
              <p:nvPr/>
            </p:nvSpPr>
            <p:spPr>
              <a:xfrm>
                <a:off x="6753860" y="2815591"/>
                <a:ext cx="340360" cy="128270"/>
              </a:xfrm>
              <a:prstGeom prst="rect">
                <a:avLst/>
              </a:prstGeom>
              <a:noFill/>
              <a:ln w="952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3BFA4C8-D2B4-44CA-98A9-35B5E672D817}"/>
                  </a:ext>
                </a:extLst>
              </p:cNvPr>
              <p:cNvSpPr/>
              <p:nvPr/>
            </p:nvSpPr>
            <p:spPr>
              <a:xfrm>
                <a:off x="6753860" y="2269491"/>
                <a:ext cx="340360" cy="128270"/>
              </a:xfrm>
              <a:prstGeom prst="rect">
                <a:avLst/>
              </a:prstGeom>
              <a:noFill/>
              <a:ln w="952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2C0484-2758-416B-9915-5D834AED4172}"/>
                  </a:ext>
                </a:extLst>
              </p:cNvPr>
              <p:cNvSpPr/>
              <p:nvPr/>
            </p:nvSpPr>
            <p:spPr>
              <a:xfrm>
                <a:off x="6591300" y="3982403"/>
                <a:ext cx="269240" cy="675640"/>
              </a:xfrm>
              <a:prstGeom prst="rect">
                <a:avLst/>
              </a:prstGeom>
              <a:noFill/>
              <a:ln w="952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0" name="Graphic 29" descr="Close">
                <a:extLst>
                  <a:ext uri="{FF2B5EF4-FFF2-40B4-BE49-F238E27FC236}">
                    <a16:creationId xmlns:a16="http://schemas.microsoft.com/office/drawing/2014/main" id="{DABC36B4-D82E-4578-BC93-3C0693AB02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7306881" y="1791537"/>
                <a:ext cx="281940" cy="281940"/>
              </a:xfrm>
              <a:prstGeom prst="rect">
                <a:avLst/>
              </a:prstGeom>
            </p:spPr>
          </p:pic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364C1DAE-2E4E-47B2-B7EB-B720660464F7}"/>
              </a:ext>
            </a:extLst>
          </p:cNvPr>
          <p:cNvSpPr txBox="1"/>
          <p:nvPr/>
        </p:nvSpPr>
        <p:spPr>
          <a:xfrm>
            <a:off x="7788305" y="6063615"/>
            <a:ext cx="3913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We don’t have big tree but NPS_1 is most important variable.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2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A24DB13-0724-43B7-9A33-0A9D9339FD5E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23058" t="51985" r="45596" b="19291"/>
          <a:stretch/>
        </p:blipFill>
        <p:spPr>
          <a:xfrm>
            <a:off x="7908594" y="3952913"/>
            <a:ext cx="3821717" cy="1969863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25286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2141C0B-BDEE-4F51-8188-EBA5D0BCF2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9136728"/>
              </p:ext>
            </p:extLst>
          </p:nvPr>
        </p:nvGraphicFramePr>
        <p:xfrm>
          <a:off x="466927" y="661481"/>
          <a:ext cx="9202367" cy="642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D9E32F5-5053-42B6-8EC4-5A266C231B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927" y="4114155"/>
            <a:ext cx="5256180" cy="2582642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5CEAC5-7BAD-4828-9E75-6C293C3ACE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0503" y="4114155"/>
            <a:ext cx="5256180" cy="2582642"/>
          </a:xfrm>
          <a:prstGeom prst="rect">
            <a:avLst/>
          </a:prstGeom>
          <a:ln>
            <a:solidFill>
              <a:srgbClr val="002060"/>
            </a:solidFill>
          </a:ln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5782577C-AB3D-4BF4-8079-685549898E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3552630"/>
              </p:ext>
            </p:extLst>
          </p:nvPr>
        </p:nvGraphicFramePr>
        <p:xfrm>
          <a:off x="466927" y="1420597"/>
          <a:ext cx="2295728" cy="454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CB492486-6FEE-40A0-BDB8-6E5C5D8790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9057802"/>
              </p:ext>
            </p:extLst>
          </p:nvPr>
        </p:nvGraphicFramePr>
        <p:xfrm>
          <a:off x="6530503" y="1420597"/>
          <a:ext cx="1971471" cy="454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22C6C65D-6966-49E0-BD32-5BE0FD833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0503" y="2731319"/>
            <a:ext cx="3063403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Random Forest Accuracy: 0.7273 </a:t>
            </a: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5011580C-D62B-455B-B2F8-39F94B289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584758"/>
              </p:ext>
            </p:extLst>
          </p:nvPr>
        </p:nvGraphicFramePr>
        <p:xfrm>
          <a:off x="6530503" y="1875286"/>
          <a:ext cx="5256180" cy="2209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090">
                  <a:extLst>
                    <a:ext uri="{9D8B030D-6E8A-4147-A177-3AD203B41FA5}">
                      <a16:colId xmlns:a16="http://schemas.microsoft.com/office/drawing/2014/main" val="1245562961"/>
                    </a:ext>
                  </a:extLst>
                </a:gridCol>
                <a:gridCol w="2628090">
                  <a:extLst>
                    <a:ext uri="{9D8B030D-6E8A-4147-A177-3AD203B41FA5}">
                      <a16:colId xmlns:a16="http://schemas.microsoft.com/office/drawing/2014/main" val="2495127042"/>
                    </a:ext>
                  </a:extLst>
                </a:gridCol>
              </a:tblGrid>
              <a:tr h="73651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Random Forest </a:t>
                      </a:r>
                    </a:p>
                    <a:p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Parameters 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996753"/>
                  </a:ext>
                </a:extLst>
              </a:tr>
              <a:tr h="315647">
                <a:tc>
                  <a:txBody>
                    <a:bodyPr/>
                    <a:lstStyle/>
                    <a:p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Random Forest Accuracy</a:t>
                      </a:r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0.73</a:t>
                      </a:r>
                      <a:endParaRPr 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428985"/>
                  </a:ext>
                </a:extLst>
              </a:tr>
              <a:tr h="1157374">
                <a:tc>
                  <a:txBody>
                    <a:bodyPr/>
                    <a:lstStyle/>
                    <a:p>
                      <a:r>
                        <a:rPr lang="en-US" sz="1200" b="0" dirty="0"/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max_depth=80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n_estimators=100</a:t>
                      </a:r>
                    </a:p>
                    <a:p>
                      <a:r>
                        <a:rPr lang="en-US" sz="1200" dirty="0"/>
                        <a:t>random_state=3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ccp_alpha=0.01</a:t>
                      </a:r>
                    </a:p>
                    <a:p>
                      <a:r>
                        <a:rPr lang="en-US" sz="1200" dirty="0"/>
                        <a:t>bootstrap =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78342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8ECD999-44E4-4B78-80B2-B7C4342F21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813321"/>
              </p:ext>
            </p:extLst>
          </p:nvPr>
        </p:nvGraphicFramePr>
        <p:xfrm>
          <a:off x="466927" y="1875286"/>
          <a:ext cx="5256180" cy="2209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090">
                  <a:extLst>
                    <a:ext uri="{9D8B030D-6E8A-4147-A177-3AD203B41FA5}">
                      <a16:colId xmlns:a16="http://schemas.microsoft.com/office/drawing/2014/main" val="1245562961"/>
                    </a:ext>
                  </a:extLst>
                </a:gridCol>
                <a:gridCol w="2628090">
                  <a:extLst>
                    <a:ext uri="{9D8B030D-6E8A-4147-A177-3AD203B41FA5}">
                      <a16:colId xmlns:a16="http://schemas.microsoft.com/office/drawing/2014/main" val="2495127042"/>
                    </a:ext>
                  </a:extLst>
                </a:gridCol>
              </a:tblGrid>
              <a:tr h="736511">
                <a:tc>
                  <a:txBody>
                    <a:bodyPr/>
                    <a:lstStyle/>
                    <a:p>
                      <a:r>
                        <a:rPr lang="en-US" dirty="0"/>
                        <a:t>Random Forest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Parameters 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996753"/>
                  </a:ext>
                </a:extLst>
              </a:tr>
              <a:tr h="315647">
                <a:tc>
                  <a:txBody>
                    <a:bodyPr/>
                    <a:lstStyle/>
                    <a:p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Random Forest Accuracy</a:t>
                      </a:r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0.73</a:t>
                      </a:r>
                      <a:endParaRPr 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428985"/>
                  </a:ext>
                </a:extLst>
              </a:tr>
              <a:tr h="1157374">
                <a:tc>
                  <a:txBody>
                    <a:bodyPr/>
                    <a:lstStyle/>
                    <a:p>
                      <a:r>
                        <a:rPr lang="en-US" sz="1200" b="0" dirty="0"/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max_depth=None</a:t>
                      </a:r>
                    </a:p>
                    <a:p>
                      <a:r>
                        <a:rPr lang="en-US" sz="1200" dirty="0"/>
                        <a:t>n_estimators=200</a:t>
                      </a:r>
                    </a:p>
                    <a:p>
                      <a:r>
                        <a:rPr lang="en-US" sz="1200" dirty="0"/>
                        <a:t>random_state=200</a:t>
                      </a:r>
                    </a:p>
                    <a:p>
                      <a:r>
                        <a:rPr lang="en-US" sz="1200" dirty="0"/>
                        <a:t>ccp_alpha=0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bootstrap =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783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246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992AD23-A9A5-4035-B8D9-30234FDD06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374068"/>
              </p:ext>
            </p:extLst>
          </p:nvPr>
        </p:nvGraphicFramePr>
        <p:xfrm>
          <a:off x="447472" y="690664"/>
          <a:ext cx="5648528" cy="778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C0DE6C2A-01A3-41B9-9C46-725AB7DEE6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693" y="2362055"/>
            <a:ext cx="4321122" cy="3933411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15EC82-4CE9-4718-8BA8-58312C97C9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4901" y="2362055"/>
            <a:ext cx="4400448" cy="2990134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61FD130F-ACCA-49FA-9EC5-6ACA8718E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4716023E-F8DB-4CBD-8628-DF783597C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778274"/>
              </p:ext>
            </p:extLst>
          </p:nvPr>
        </p:nvGraphicFramePr>
        <p:xfrm>
          <a:off x="426455" y="920769"/>
          <a:ext cx="8758894" cy="137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4247">
                  <a:extLst>
                    <a:ext uri="{9D8B030D-6E8A-4147-A177-3AD203B41FA5}">
                      <a16:colId xmlns:a16="http://schemas.microsoft.com/office/drawing/2014/main" val="1974937277"/>
                    </a:ext>
                  </a:extLst>
                </a:gridCol>
                <a:gridCol w="2144247">
                  <a:extLst>
                    <a:ext uri="{9D8B030D-6E8A-4147-A177-3AD203B41FA5}">
                      <a16:colId xmlns:a16="http://schemas.microsoft.com/office/drawing/2014/main" val="1584806245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411288604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79613886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lvl="0"/>
                      <a:r>
                        <a:rPr lang="en-US" dirty="0"/>
                        <a:t>ROC Curve and Confusion Matrix for Cross-validated Random Forest model</a:t>
                      </a:r>
                    </a:p>
                  </a:txBody>
                  <a:tcPr marL="100584" marR="10058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US" dirty="0"/>
                        <a:t>Confusion of matrix After Accuracy </a:t>
                      </a:r>
                    </a:p>
                  </a:txBody>
                  <a:tcPr marL="100584" marR="10058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81069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/>
                        <a:t>Threshold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Threshold 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276740475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Accuracy</a:t>
                      </a:r>
                    </a:p>
                    <a:p>
                      <a:endParaRPr lang="en-US" dirty="0"/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0.73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Accuracy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0.74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75372746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ED37F5B-7176-4FC2-BFBD-11A1A08C9221}"/>
              </a:ext>
            </a:extLst>
          </p:cNvPr>
          <p:cNvSpPr txBox="1"/>
          <p:nvPr/>
        </p:nvSpPr>
        <p:spPr>
          <a:xfrm>
            <a:off x="9258286" y="1338249"/>
            <a:ext cx="2762655" cy="2639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400" dirty="0"/>
              <a:t>We got same accuracies After performing with and with out cross validating, with the listed parameters for the  model, which is 0.73.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400" dirty="0"/>
              <a:t>We calculated the ROC curve and confusion matrix and got 0.74 accuracy using 0.3.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91CF179D-7F94-4379-B21F-161C2427D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7044"/>
            <a:ext cx="28854" cy="1231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C15E709-802F-4BAC-B9BE-057403837B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4833995"/>
              </p:ext>
            </p:extLst>
          </p:nvPr>
        </p:nvGraphicFramePr>
        <p:xfrm>
          <a:off x="9439106" y="920769"/>
          <a:ext cx="2581835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166F6A3-FB2A-4F90-90F1-7DE6FAACACDF}"/>
              </a:ext>
            </a:extLst>
          </p:cNvPr>
          <p:cNvSpPr txBox="1"/>
          <p:nvPr/>
        </p:nvSpPr>
        <p:spPr>
          <a:xfrm>
            <a:off x="9258286" y="3977882"/>
            <a:ext cx="2933714" cy="1023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From this we can understand that using the ROC curve with 0.3 threshold we can get higher accuracy.</a:t>
            </a:r>
          </a:p>
        </p:txBody>
      </p:sp>
    </p:spTree>
    <p:extLst>
      <p:ext uri="{BB962C8B-B14F-4D97-AF65-F5344CB8AC3E}">
        <p14:creationId xmlns:p14="http://schemas.microsoft.com/office/powerpoint/2010/main" val="2586019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0915CBD-49E3-4E59-BB87-C61079F2B3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9727013"/>
              </p:ext>
            </p:extLst>
          </p:nvPr>
        </p:nvGraphicFramePr>
        <p:xfrm>
          <a:off x="161408" y="613944"/>
          <a:ext cx="2295728" cy="454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626266C-B378-4DEE-8AEA-B2F29C29F0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1813868"/>
              </p:ext>
            </p:extLst>
          </p:nvPr>
        </p:nvGraphicFramePr>
        <p:xfrm>
          <a:off x="3002604" y="557187"/>
          <a:ext cx="1796373" cy="454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6BD8781-CCDA-463C-83E7-B7F579143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734574"/>
              </p:ext>
            </p:extLst>
          </p:nvPr>
        </p:nvGraphicFramePr>
        <p:xfrm>
          <a:off x="172191" y="1093082"/>
          <a:ext cx="3692204" cy="2119086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94154">
                  <a:extLst>
                    <a:ext uri="{9D8B030D-6E8A-4147-A177-3AD203B41FA5}">
                      <a16:colId xmlns:a16="http://schemas.microsoft.com/office/drawing/2014/main" val="1245562961"/>
                    </a:ext>
                  </a:extLst>
                </a:gridCol>
                <a:gridCol w="935421">
                  <a:extLst>
                    <a:ext uri="{9D8B030D-6E8A-4147-A177-3AD203B41FA5}">
                      <a16:colId xmlns:a16="http://schemas.microsoft.com/office/drawing/2014/main" val="2495127042"/>
                    </a:ext>
                  </a:extLst>
                </a:gridCol>
                <a:gridCol w="1562629">
                  <a:extLst>
                    <a:ext uri="{9D8B030D-6E8A-4147-A177-3AD203B41FA5}">
                      <a16:colId xmlns:a16="http://schemas.microsoft.com/office/drawing/2014/main" val="1221760278"/>
                    </a:ext>
                  </a:extLst>
                </a:gridCol>
              </a:tblGrid>
              <a:tr h="186552">
                <a:tc rowSpan="2"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  <a:p>
                      <a:pPr algn="ctr"/>
                      <a:endParaRPr lang="en-US" sz="700" dirty="0"/>
                    </a:p>
                    <a:p>
                      <a:pPr algn="ctr"/>
                      <a:endParaRPr lang="en-US" sz="700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LGBM</a:t>
                      </a:r>
                    </a:p>
                  </a:txBody>
                  <a:tcPr marL="90624" marR="90624" marT="45312" marB="45312">
                    <a:solidFill>
                      <a:srgbClr val="FF7F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 marL="33443" marR="33443" marT="16721" marB="1672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Parameters</a:t>
                      </a:r>
                    </a:p>
                  </a:txBody>
                  <a:tcPr marL="33443" marR="33443" marT="16721" marB="1672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996753"/>
                  </a:ext>
                </a:extLst>
              </a:tr>
              <a:tr h="9630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0.69</a:t>
                      </a:r>
                    </a:p>
                  </a:txBody>
                  <a:tcPr marL="33443" marR="33443" marT="16721" marB="16721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max_depth= -1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n_estimators= 100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random_state= None</a:t>
                      </a:r>
                    </a:p>
                  </a:txBody>
                  <a:tcPr marL="33443" marR="33443" marT="16721" marB="16721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13843"/>
                  </a:ext>
                </a:extLst>
              </a:tr>
              <a:tr h="939682">
                <a:tc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US" sz="7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US" sz="7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US" sz="7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kumimoji="0" lang="en-US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AdaBoost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3443" marR="33443" marT="16721" marB="16721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05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0.69</a:t>
                      </a:r>
                    </a:p>
                  </a:txBody>
                  <a:tcPr marL="33443" marR="33443" marT="16721" marB="16721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n_estimators = 200</a:t>
                      </a:r>
                    </a:p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random_state = 123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learning_rate = 0.1</a:t>
                      </a:r>
                    </a:p>
                    <a:p>
                      <a:pPr algn="ctr"/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3443" marR="33443" marT="16721" marB="16721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092386"/>
                  </a:ext>
                </a:extLst>
              </a:tr>
            </a:tbl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FF98FD09-0D3F-44DA-BA95-176FBCD5F1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6928924"/>
              </p:ext>
            </p:extLst>
          </p:nvPr>
        </p:nvGraphicFramePr>
        <p:xfrm>
          <a:off x="4211903" y="645852"/>
          <a:ext cx="2295728" cy="454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8A37C80C-9BD6-4979-83F0-6966B76CF1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9611748"/>
              </p:ext>
            </p:extLst>
          </p:nvPr>
        </p:nvGraphicFramePr>
        <p:xfrm>
          <a:off x="466927" y="4507038"/>
          <a:ext cx="2774842" cy="472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AFBD286-86D8-4067-B5CB-01C93E36CA96}"/>
              </a:ext>
            </a:extLst>
          </p:cNvPr>
          <p:cNvSpPr txBox="1"/>
          <p:nvPr/>
        </p:nvSpPr>
        <p:spPr>
          <a:xfrm>
            <a:off x="4310665" y="4182574"/>
            <a:ext cx="4016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 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B5221CE1-3E9A-45B8-9C18-9AD76167A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7E8DB18-54C2-4676-85D2-BC2E87F15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30896"/>
              </p:ext>
            </p:extLst>
          </p:nvPr>
        </p:nvGraphicFramePr>
        <p:xfrm>
          <a:off x="4220213" y="1126824"/>
          <a:ext cx="3799180" cy="211079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50573">
                  <a:extLst>
                    <a:ext uri="{9D8B030D-6E8A-4147-A177-3AD203B41FA5}">
                      <a16:colId xmlns:a16="http://schemas.microsoft.com/office/drawing/2014/main" val="1245562961"/>
                    </a:ext>
                  </a:extLst>
                </a:gridCol>
                <a:gridCol w="1051035">
                  <a:extLst>
                    <a:ext uri="{9D8B030D-6E8A-4147-A177-3AD203B41FA5}">
                      <a16:colId xmlns:a16="http://schemas.microsoft.com/office/drawing/2014/main" val="2495127042"/>
                    </a:ext>
                  </a:extLst>
                </a:gridCol>
                <a:gridCol w="1597572">
                  <a:extLst>
                    <a:ext uri="{9D8B030D-6E8A-4147-A177-3AD203B41FA5}">
                      <a16:colId xmlns:a16="http://schemas.microsoft.com/office/drawing/2014/main" val="1221760278"/>
                    </a:ext>
                  </a:extLst>
                </a:gridCol>
              </a:tblGrid>
              <a:tr h="186552">
                <a:tc rowSpan="2"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  <a:p>
                      <a:pPr algn="ctr"/>
                      <a:endParaRPr lang="en-US" sz="700" dirty="0"/>
                    </a:p>
                    <a:p>
                      <a:pPr algn="ctr"/>
                      <a:endParaRPr lang="en-US" sz="700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LGBM</a:t>
                      </a:r>
                    </a:p>
                  </a:txBody>
                  <a:tcPr marL="90624" marR="90624" marT="45312" marB="45312">
                    <a:solidFill>
                      <a:srgbClr val="FF7F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 marL="33443" marR="33443" marT="16721" marB="1672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Parameters</a:t>
                      </a:r>
                    </a:p>
                  </a:txBody>
                  <a:tcPr marL="33443" marR="33443" marT="16721" marB="1672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996753"/>
                  </a:ext>
                </a:extLst>
              </a:tr>
              <a:tr h="9547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0.74</a:t>
                      </a:r>
                    </a:p>
                  </a:txBody>
                  <a:tcPr marL="33443" marR="33443" marT="16721" marB="16721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max_depth =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n_estimators = 200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random_state = None</a:t>
                      </a:r>
                    </a:p>
                  </a:txBody>
                  <a:tcPr marL="33443" marR="33443" marT="16721" marB="16721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13843"/>
                  </a:ext>
                </a:extLst>
              </a:tr>
              <a:tr h="939682">
                <a:tc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US" sz="7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US" sz="7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US" sz="7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kumimoji="0" lang="en-US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AdaBoost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3443" marR="33443" marT="16721" marB="16721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05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0.71</a:t>
                      </a:r>
                    </a:p>
                  </a:txBody>
                  <a:tcPr marL="33443" marR="33443" marT="16721" marB="16721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n_estimators = 200</a:t>
                      </a:r>
                    </a:p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random_state = 200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learning_rate = 0.1</a:t>
                      </a:r>
                    </a:p>
                    <a:p>
                      <a:pPr algn="ctr"/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3443" marR="33443" marT="16721" marB="16721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09238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DA5CAEE-3D16-41CF-AD22-D73E3B4E44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223105"/>
              </p:ext>
            </p:extLst>
          </p:nvPr>
        </p:nvGraphicFramePr>
        <p:xfrm>
          <a:off x="8224475" y="1185186"/>
          <a:ext cx="3692204" cy="20810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23051">
                  <a:extLst>
                    <a:ext uri="{9D8B030D-6E8A-4147-A177-3AD203B41FA5}">
                      <a16:colId xmlns:a16="http://schemas.microsoft.com/office/drawing/2014/main" val="1245562961"/>
                    </a:ext>
                  </a:extLst>
                </a:gridCol>
                <a:gridCol w="923051">
                  <a:extLst>
                    <a:ext uri="{9D8B030D-6E8A-4147-A177-3AD203B41FA5}">
                      <a16:colId xmlns:a16="http://schemas.microsoft.com/office/drawing/2014/main" val="780158368"/>
                    </a:ext>
                  </a:extLst>
                </a:gridCol>
                <a:gridCol w="923244">
                  <a:extLst>
                    <a:ext uri="{9D8B030D-6E8A-4147-A177-3AD203B41FA5}">
                      <a16:colId xmlns:a16="http://schemas.microsoft.com/office/drawing/2014/main" val="2495127042"/>
                    </a:ext>
                  </a:extLst>
                </a:gridCol>
                <a:gridCol w="922858">
                  <a:extLst>
                    <a:ext uri="{9D8B030D-6E8A-4147-A177-3AD203B41FA5}">
                      <a16:colId xmlns:a16="http://schemas.microsoft.com/office/drawing/2014/main" val="1221760278"/>
                    </a:ext>
                  </a:extLst>
                </a:gridCol>
              </a:tblGrid>
              <a:tr h="186552">
                <a:tc rowSpan="2"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  <a:p>
                      <a:pPr algn="ctr"/>
                      <a:endParaRPr lang="en-US" sz="700" dirty="0"/>
                    </a:p>
                    <a:p>
                      <a:pPr algn="ctr"/>
                      <a:endParaRPr lang="en-US" sz="700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LGBM</a:t>
                      </a:r>
                    </a:p>
                  </a:txBody>
                  <a:tcPr marL="90624" marR="90624" marT="45312" marB="45312">
                    <a:solidFill>
                      <a:srgbClr val="FF7F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 marL="33443" marR="33443" marT="16721" marB="1672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Threshold</a:t>
                      </a:r>
                    </a:p>
                  </a:txBody>
                  <a:tcPr marL="33443" marR="33443" marT="16721" marB="16721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roc_auc_score</a:t>
                      </a:r>
                    </a:p>
                  </a:txBody>
                  <a:tcPr marL="33443" marR="33443" marT="16721" marB="1672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996753"/>
                  </a:ext>
                </a:extLst>
              </a:tr>
              <a:tr h="9547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0.78</a:t>
                      </a:r>
                    </a:p>
                  </a:txBody>
                  <a:tcPr marL="33443" marR="33443" marT="16721" marB="16721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0.6</a:t>
                      </a:r>
                      <a:endParaRPr 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33443" marR="33443" marT="16721" marB="16721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0.83</a:t>
                      </a:r>
                      <a:endParaRPr 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33443" marR="33443" marT="16721" marB="16721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13843"/>
                  </a:ext>
                </a:extLst>
              </a:tr>
              <a:tr h="939682">
                <a:tc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US" sz="7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US" sz="7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US" sz="7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kumimoji="0" lang="en-US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AdaBoost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3443" marR="33443" marT="16721" marB="16721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05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0.71</a:t>
                      </a:r>
                    </a:p>
                  </a:txBody>
                  <a:tcPr marL="33443" marR="33443" marT="16721" marB="16721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05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33443" marR="33443" marT="16721" marB="16721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05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0.79</a:t>
                      </a:r>
                    </a:p>
                    <a:p>
                      <a:pPr algn="ctr"/>
                      <a:endParaRPr 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33443" marR="33443" marT="16721" marB="16721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092386"/>
                  </a:ext>
                </a:extLst>
              </a:tr>
            </a:tbl>
          </a:graphicData>
        </a:graphic>
      </p:graphicFrame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7C7FBEE9-3557-4CC5-88D4-53E2E91883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3690427"/>
              </p:ext>
            </p:extLst>
          </p:nvPr>
        </p:nvGraphicFramePr>
        <p:xfrm>
          <a:off x="8234985" y="680435"/>
          <a:ext cx="3692204" cy="454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28" name="Diagram 27">
            <a:extLst>
              <a:ext uri="{FF2B5EF4-FFF2-40B4-BE49-F238E27FC236}">
                <a16:creationId xmlns:a16="http://schemas.microsoft.com/office/drawing/2014/main" id="{05F31B99-645B-427D-AB83-53FC4D093C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22507"/>
              </p:ext>
            </p:extLst>
          </p:nvPr>
        </p:nvGraphicFramePr>
        <p:xfrm>
          <a:off x="445906" y="90100"/>
          <a:ext cx="3692012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graphicFrame>
        <p:nvGraphicFramePr>
          <p:cNvPr id="31" name="Diagram 30">
            <a:extLst>
              <a:ext uri="{FF2B5EF4-FFF2-40B4-BE49-F238E27FC236}">
                <a16:creationId xmlns:a16="http://schemas.microsoft.com/office/drawing/2014/main" id="{5BF164AA-1884-4857-9DCB-B08D2620A9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2299344"/>
              </p:ext>
            </p:extLst>
          </p:nvPr>
        </p:nvGraphicFramePr>
        <p:xfrm>
          <a:off x="4211903" y="3322323"/>
          <a:ext cx="1810937" cy="454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2" r:lo="rId33" r:qs="rId34" r:cs="rId3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C1B3B01-9791-4923-BC72-0AE8C52F9919}"/>
              </a:ext>
            </a:extLst>
          </p:cNvPr>
          <p:cNvSpPr txBox="1"/>
          <p:nvPr/>
        </p:nvSpPr>
        <p:spPr>
          <a:xfrm>
            <a:off x="4211903" y="3777012"/>
            <a:ext cx="75048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For Random Forest we used boosting classifiers like, Light GBM and AdaBoost.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 </a:t>
            </a:r>
            <a:r>
              <a:rPr lang="en-US" sz="1200" b="1" u="sng" dirty="0"/>
              <a:t>Based on this, the model has the following properties:-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1200" dirty="0"/>
              <a:t>Performing the above boosting </a:t>
            </a:r>
            <a:r>
              <a:rPr lang="en-US" sz="1200" dirty="0"/>
              <a:t>classifiers before cross validating the model, we got 0.69 accuracy for both classifiers.</a:t>
            </a:r>
            <a:r>
              <a:rPr lang="en-US" altLang="en-US" sz="1200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1200" dirty="0"/>
              <a:t>With the listed parameters, we performed the cross validation and we got 0.74 and 0.71 accuracies respectively.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We cal</a:t>
            </a:r>
            <a:r>
              <a:rPr lang="en-US" altLang="en-US" sz="1200" dirty="0"/>
              <a:t>culated the ROC curve to get better accuracies and we got 0.78 for 0.6 threshold for LGBM and for AdaBoost we got 0.71 accuracy using 0.5 threshold.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The roc_a</a:t>
            </a:r>
            <a:r>
              <a:rPr lang="en-US" altLang="en-US" sz="1200" dirty="0"/>
              <a:t>uc_score becomes 0.83 and 0.79 respectively.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 </a:t>
            </a:r>
            <a:endParaRPr lang="en-US" sz="1200" b="0" dirty="0"/>
          </a:p>
          <a:p>
            <a:r>
              <a:rPr lang="en-US" sz="1200" dirty="0"/>
              <a:t> From this information we can understand that the model can have high accuracy when we use cross validated LGBM boosting classifiers with 0.6 threshold. 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DAABE88-4BC0-4A5F-9CCE-3C6C885DE6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6999428"/>
              </p:ext>
            </p:extLst>
          </p:nvPr>
        </p:nvGraphicFramePr>
        <p:xfrm>
          <a:off x="2112055" y="34104"/>
          <a:ext cx="8869710" cy="646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7" r:lo="rId38" r:qs="rId39" r:cs="rId40"/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1BE872FA-B3DE-4AC5-BEA2-C544C1E1C1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9557660"/>
              </p:ext>
            </p:extLst>
          </p:nvPr>
        </p:nvGraphicFramePr>
        <p:xfrm>
          <a:off x="127078" y="3322322"/>
          <a:ext cx="2052471" cy="454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2" r:lo="rId43" r:qs="rId44" r:cs="rId45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237602BF-7879-4746-AD87-91BD34B66645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45007" y="3836310"/>
            <a:ext cx="3842544" cy="298758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107053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A1D6ED5A-9B8A-4433-BA99-139C56DB1BD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1956</TotalTime>
  <Words>517</Words>
  <Application>Microsoft Office PowerPoint</Application>
  <PresentationFormat>Widescreen</PresentationFormat>
  <Paragraphs>150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Gill Sans MT</vt:lpstr>
      <vt:lpstr>Wingdings</vt:lpstr>
      <vt:lpstr>Wingdings 2</vt:lpstr>
      <vt:lpstr>Dividend</vt:lpstr>
      <vt:lpstr>Applied Machine Learning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Machine Learning</dc:title>
  <dc:creator>abel nerea</dc:creator>
  <cp:lastModifiedBy>abel nerea</cp:lastModifiedBy>
  <cp:revision>5</cp:revision>
  <dcterms:created xsi:type="dcterms:W3CDTF">2022-04-15T20:21:03Z</dcterms:created>
  <dcterms:modified xsi:type="dcterms:W3CDTF">2022-04-18T19:24:15Z</dcterms:modified>
</cp:coreProperties>
</file>